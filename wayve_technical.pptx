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2a23a5c1f14992" /><Relationship Type="http://schemas.openxmlformats.org/officeDocument/2006/relationships/extended-properties" Target="/docProps/app.xml" Id="Re9d77253a0f148fe" /><Relationship Type="http://schemas.openxmlformats.org/officeDocument/2006/relationships/officeDocument" Target="/ppt/presentation.xml" Id="R89ac21e212ab44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8311073d84116"/>
  </p:sldMasterIdLst>
  <p:notesMasterIdLst>
    <p:notesMasterId xmlns:r="http://schemas.openxmlformats.org/officeDocument/2006/relationships" r:id="R09e903308ffd4bf5"/>
  </p:notesMasterIdLst>
  <p:sldIdLst>
    <p:sldId xmlns:r="http://schemas.openxmlformats.org/officeDocument/2006/relationships" id="256" r:id="R54da52f607144f2d"/>
    <p:sldId xmlns:r="http://schemas.openxmlformats.org/officeDocument/2006/relationships" id="257" r:id="Rd703f7874c734f4e"/>
    <p:sldId xmlns:r="http://schemas.openxmlformats.org/officeDocument/2006/relationships" id="258" r:id="R6b0eb112b22f40c4"/>
    <p:sldId xmlns:r="http://schemas.openxmlformats.org/officeDocument/2006/relationships" id="259" r:id="Rc54b89d340484c10"/>
    <p:sldId xmlns:r="http://schemas.openxmlformats.org/officeDocument/2006/relationships" id="260" r:id="Rb44065299d2240a4"/>
    <p:sldId xmlns:r="http://schemas.openxmlformats.org/officeDocument/2006/relationships" id="261" r:id="R9f0b36a675e04a3a"/>
    <p:sldId xmlns:r="http://schemas.openxmlformats.org/officeDocument/2006/relationships" id="262" r:id="Ra918e14ccc86407b"/>
    <p:sldId xmlns:r="http://schemas.openxmlformats.org/officeDocument/2006/relationships" id="263" r:id="R657b4b3f77e44f3b"/>
    <p:sldId xmlns:r="http://schemas.openxmlformats.org/officeDocument/2006/relationships" id="264" r:id="R5700fe8de4cf4d9a"/>
    <p:sldId xmlns:r="http://schemas.openxmlformats.org/officeDocument/2006/relationships" id="265" r:id="R110388794aec4dc4"/>
    <p:sldId xmlns:r="http://schemas.openxmlformats.org/officeDocument/2006/relationships" id="266" r:id="R45e2f8362d6a4353"/>
    <p:sldId xmlns:r="http://schemas.openxmlformats.org/officeDocument/2006/relationships" id="267" r:id="R36f2c187b306466a"/>
    <p:sldId xmlns:r="http://schemas.openxmlformats.org/officeDocument/2006/relationships" id="268" r:id="R6dcc52a08dc842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8311073d84116" /><Relationship Type="http://schemas.openxmlformats.org/officeDocument/2006/relationships/theme" Target="/ppt/theme/theme1.xml" Id="Rda9fd61e93b145e7" /><Relationship Type="http://schemas.openxmlformats.org/officeDocument/2006/relationships/notesMaster" Target="/ppt/notesMasters/notesMaster1.xml" Id="R09e903308ffd4bf5" /><Relationship Type="http://schemas.openxmlformats.org/officeDocument/2006/relationships/presProps" Target="/ppt/presProps.xml" Id="R9913422ab73e40b6" /><Relationship Type="http://schemas.openxmlformats.org/officeDocument/2006/relationships/viewProps" Target="/ppt/viewProps.xml" Id="R2fed3f2ef17a4e9b" /><Relationship Type="http://schemas.openxmlformats.org/officeDocument/2006/relationships/tableStyles" Target="/ppt/tableStyles.xml" Id="Rf76c37fa76c142c7" /><Relationship Type="http://schemas.openxmlformats.org/officeDocument/2006/relationships/slide" Target="/ppt/slides/slide1.xml" Id="R54da52f607144f2d" /><Relationship Type="http://schemas.openxmlformats.org/officeDocument/2006/relationships/slide" Target="/ppt/slides/slide2.xml" Id="Rd703f7874c734f4e" /><Relationship Type="http://schemas.openxmlformats.org/officeDocument/2006/relationships/slide" Target="/ppt/slides/slide3.xml" Id="R6b0eb112b22f40c4" /><Relationship Type="http://schemas.openxmlformats.org/officeDocument/2006/relationships/slide" Target="/ppt/slides/slide4.xml" Id="Rc54b89d340484c10" /><Relationship Type="http://schemas.openxmlformats.org/officeDocument/2006/relationships/slide" Target="/ppt/slides/slide5.xml" Id="Rb44065299d2240a4" /><Relationship Type="http://schemas.openxmlformats.org/officeDocument/2006/relationships/slide" Target="/ppt/slides/slide6.xml" Id="R9f0b36a675e04a3a" /><Relationship Type="http://schemas.openxmlformats.org/officeDocument/2006/relationships/slide" Target="/ppt/slides/slide7.xml" Id="Ra918e14ccc86407b" /><Relationship Type="http://schemas.openxmlformats.org/officeDocument/2006/relationships/slide" Target="/ppt/slides/slide8.xml" Id="R657b4b3f77e44f3b" /><Relationship Type="http://schemas.openxmlformats.org/officeDocument/2006/relationships/slide" Target="/ppt/slides/slide9.xml" Id="R5700fe8de4cf4d9a" /><Relationship Type="http://schemas.openxmlformats.org/officeDocument/2006/relationships/slide" Target="/ppt/slides/slide10.xml" Id="R110388794aec4dc4" /><Relationship Type="http://schemas.openxmlformats.org/officeDocument/2006/relationships/slide" Target="/ppt/slides/slide11.xml" Id="R45e2f8362d6a4353" /><Relationship Type="http://schemas.openxmlformats.org/officeDocument/2006/relationships/slide" Target="/ppt/slides/slide12.xml" Id="R36f2c187b306466a" /><Relationship Type="http://schemas.openxmlformats.org/officeDocument/2006/relationships/slide" Target="/ppt/slides/slide13.xml" Id="R6dcc52a08dc8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f818234a6f6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febb798f134141" /><Relationship Type="http://schemas.openxmlformats.org/officeDocument/2006/relationships/notesMaster" Target="/ppt/notesMasters/notesMaster1.xml" Id="Rd6d47f0f241447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49e18b513481f" /><Relationship Type="http://schemas.openxmlformats.org/officeDocument/2006/relationships/notesMaster" Target="/ppt/notesMasters/notesMaster1.xml" Id="R7550e1864b18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044178d6a40e7" /><Relationship Type="http://schemas.openxmlformats.org/officeDocument/2006/relationships/notesMaster" Target="/ppt/notesMasters/notesMaster1.xml" Id="R5f88ae8887bd4e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30ed1da4284fcc" /><Relationship Type="http://schemas.openxmlformats.org/officeDocument/2006/relationships/notesMaster" Target="/ppt/notesMasters/notesMaster1.xml" Id="R697b7d40ffb348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0c7ec7aca947c4" /><Relationship Type="http://schemas.openxmlformats.org/officeDocument/2006/relationships/notesMaster" Target="/ppt/notesMasters/notesMaster1.xml" Id="Re8ecbd225b6c4e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68b7708c849e4" /><Relationship Type="http://schemas.openxmlformats.org/officeDocument/2006/relationships/notesMaster" Target="/ppt/notesMasters/notesMaster1.xml" Id="Ra7404d30a2ea42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950783990480e" /><Relationship Type="http://schemas.openxmlformats.org/officeDocument/2006/relationships/notesMaster" Target="/ppt/notesMasters/notesMaster1.xml" Id="R78e71919c493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3a262a021c42d7" /><Relationship Type="http://schemas.openxmlformats.org/officeDocument/2006/relationships/notesMaster" Target="/ppt/notesMasters/notesMaster1.xml" Id="R5adcc3125d8d4b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94a15033e404c" /><Relationship Type="http://schemas.openxmlformats.org/officeDocument/2006/relationships/notesMaster" Target="/ppt/notesMasters/notesMaster1.xml" Id="R1ea0262f8a9647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0b8ecc0d344ace" /><Relationship Type="http://schemas.openxmlformats.org/officeDocument/2006/relationships/notesMaster" Target="/ppt/notesMasters/notesMaster1.xml" Id="R2c71254e7ae744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25394734a64c85" /><Relationship Type="http://schemas.openxmlformats.org/officeDocument/2006/relationships/notesMaster" Target="/ppt/notesMasters/notesMaster1.xml" Id="Red82231872bb41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0e19fb378d4932" /><Relationship Type="http://schemas.openxmlformats.org/officeDocument/2006/relationships/notesMaster" Target="/ppt/notesMasters/notesMaster1.xml" Id="R6860c016dc2948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ff21e455ce43d3" /><Relationship Type="http://schemas.openxmlformats.org/officeDocument/2006/relationships/notesMaster" Target="/ppt/notesMasters/notesMaster1.xml" Id="Rab64c4ebecb64a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78610c34740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b0d317dbe21496b" /><Relationship Type="http://schemas.openxmlformats.org/officeDocument/2006/relationships/slideLayout" Target="/ppt/slideLayouts/slideLayout2.xml" Id="R00cd66612041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d66612041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115b92ed844a5" /><Relationship Type="http://schemas.openxmlformats.org/officeDocument/2006/relationships/notesSlide" Target="/ppt/notesSlides/notesSlide1.xml" Id="R034ea302d285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a2eaa041a4e57" /><Relationship Type="http://schemas.openxmlformats.org/officeDocument/2006/relationships/notesSlide" Target="/ppt/notesSlides/notesSlide2.xml" Id="R0e37370f06be49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55e1f93c9495b" /><Relationship Type="http://schemas.openxmlformats.org/officeDocument/2006/relationships/notesSlide" Target="/ppt/notesSlides/notesSlide3.xml" Id="Rb7fc0b61595b4d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55cbd065a464f" /><Relationship Type="http://schemas.openxmlformats.org/officeDocument/2006/relationships/notesSlide" Target="/ppt/notesSlides/notesSlide4.xml" Id="R682026fb1098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d01bf80b954c4d" /><Relationship Type="http://schemas.openxmlformats.org/officeDocument/2006/relationships/notesSlide" Target="/ppt/notesSlides/notesSlide5.xml" Id="R518e842d8c2b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f350f9bb844d5" /><Relationship Type="http://schemas.openxmlformats.org/officeDocument/2006/relationships/notesSlide" Target="/ppt/notesSlides/notesSlide6.xml" Id="R16acc691d421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06197fa5842ee" /><Relationship Type="http://schemas.openxmlformats.org/officeDocument/2006/relationships/notesSlide" Target="/ppt/notesSlides/notesSlide7.xml" Id="R7c4b82a1d61144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706e27b9cf49eb" /><Relationship Type="http://schemas.openxmlformats.org/officeDocument/2006/relationships/notesSlide" Target="/ppt/notesSlides/notesSlide8.xml" Id="R2dbc4fe42f1149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353e21df1463d" /><Relationship Type="http://schemas.openxmlformats.org/officeDocument/2006/relationships/notesSlide" Target="/ppt/notesSlides/notesSlide9.xml" Id="Rd1f8213b1e754f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6d83b418e46ac" /><Relationship Type="http://schemas.openxmlformats.org/officeDocument/2006/relationships/notesSlide" Target="/ppt/notesSlides/notesSlide10.xml" Id="Rb0bfb396a0cc49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7655825c44d45" /><Relationship Type="http://schemas.openxmlformats.org/officeDocument/2006/relationships/notesSlide" Target="/ppt/notesSlides/notesSlide11.xml" Id="Rbdb2f76bd25649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29613d541343c8" /><Relationship Type="http://schemas.openxmlformats.org/officeDocument/2006/relationships/notesSlide" Target="/ppt/notesSlides/notesSlide12.xml" Id="R375064560aae40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28133371041a7" /><Relationship Type="http://schemas.openxmlformats.org/officeDocument/2006/relationships/notesSlide" Target="/ppt/notesSlides/notesSlide13.xml" Id="R0e3ee87569564f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E23A2-56EA-4048-86D3-4D16037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9197E-FE70-4C96-A0E4-A5BA5AE1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D0EAA-096A-4783-ACD7-6C58FD5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Wayve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C4BF4-68DA-4026-A6D8-1CBE48F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8096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Wayve technical review: a Rust platform backend with a React workspace frontend.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3050-464F-4F76-8B65-9F9DD6AF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Deep architecture review from local source: API surfaces, workers, database model, security, integrations and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E9AE1-743E-4404-BC9F-B9A4EFD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04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C7BC7-D576-48E9-B431-1FA5EC1A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6BA33-44B2-4330-92C2-F83AC29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Actix Web, SQLx/Postgres, Redis, worker roles, Stripe, OAuth, webhooks and SCIM.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B05D0-B816-4274-9275-3A53F42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47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4D30C-CC98-4BC9-8CFB-576EA438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CB18B-FF84-4638-9490-0A22DAD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React + TypeScript + Vite with protected app routes and role-aware homes.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98FAF-4E27-4D93-AF09-678A5F0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D48D4-AA78-4766-9CCF-FB66DFD5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1170F-7A14-4EA6-BE00-7E8A6BCE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OpenAPI, API keys, RBAC, audit export, embed tokens and outbound events.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2570B-BD16-412C-88FD-F245FE0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03139-3643-4767-AD75-92CC37B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8297E-F3F5-463F-BD9F-7FA84A6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Rust source files under backend/src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66EBA-6BDF-47D6-A36F-7BEBD142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2E07D-BA24-4D5D-B297-04AA15BB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C5DF7-473A-4C92-AC89-63834E46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Frontend TS/TSX/CSS files under frontend/src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DF61E-2B53-4977-8127-D4492EB2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EA75C-82A7-4775-8670-5632E567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13A13-485E-45D6-9B71-D8C0E29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RBAC permissions in the catalog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8BC76-A885-45CE-AF18-9013478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1797C-90E4-44B3-BE82-27C4257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14572-D175-4F64-A3F2-46B2F6F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Stable outbound webhook event types</a:t>
            </a:r>
          </a:p>
        </p:txBody>
      </p:sp>
    </p:spTree>
    <p:extLst>
      <p:ext uri="{BB962C8B-B14F-4D97-AF65-F5344CB8AC3E}">
        <p14:creationId xmlns:p14="http://schemas.microsoft.com/office/powerpoint/2010/main" val="6963290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6AD66-7A64-4ACD-A178-2A7055F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140F6D-3079-4A4D-A938-1838EF72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443DB0-33A7-41FD-ABE1-E44195D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F5B327A-F4CF-4242-B1CB-705BF11B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repository is split cleanly into frontend, backend, infra and test surfaces.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C55996E-AB90-40EC-B02A-162EB8B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project is not a single feature branch anymore; it has platform modules and role-specific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62B8E-B70E-415F-9EAF-DFF5217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1C32A-4A08-4633-828D-135EA30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A33C7-AD16-4845-94AD-C116C2D2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React app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D2FFB-D98E-4FE0-82DC-3C75238A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EB5B7-96EF-452B-BD5A-EC84C50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Workspace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579E4-520B-4113-8D4E-75D5C654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DBC84-95B6-49CE-87AE-311ABC2C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Marketing/docs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6E74F-8F70-42D4-A46D-E23FD3A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7CE1A-B100-42DA-BBC3-6F86360D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Settings/admin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BB127-F3EE-41EE-A524-A2D741A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3DDE0-ACB6-428C-B5D6-236E2C3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API client wrappers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0137F-3EA7-4E48-AAA5-DBD023CD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F351E-8BF2-41EC-A639-D78BD26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545AB-F1FF-4483-A1B0-03C2477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A17AA-1015-48B8-B7C9-9757D3E1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Actix route scopes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CDAAF-5943-4A42-96B3-926B883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D5A6C-C5A6-403B-8D88-FFC219DD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Domain modules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70E63-D69D-4EC0-9BA3-4670500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CDA56-183B-41BE-AAFB-648C91FD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Workers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843C3-5191-4EAE-9F1F-68E49EF1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C6300-C865-43BF-8F64-6170B5A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Security middleware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87B19-D807-4814-BDBF-62B95BAD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22B27-8090-4907-82A8-EE7738C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OpenAPI/docs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8447A-2674-4DBD-8DF5-FB1E659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684F0-3032-4312-B59E-4993EE3A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EF4E9-34C5-4D65-8F66-1EAEFB3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84D5D-55DE-476C-91D2-32C9A370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Postgres schema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79AA13-BA68-4FBA-9374-770BAC4C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54011-EC9B-49E6-86DD-01249BAE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C416A7-D882-4B5F-BE49-9FEDF8A7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05F1C-A7A1-4BE8-AA1B-625F6D91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Nginx templates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1040F4-FEC2-49F3-A872-2D9768E1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337F42-61AC-4991-8794-E67F297E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Deployment scripts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C73852-7CF8-46F6-932F-9FEB463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1B019-FBC3-437D-9353-1977CE5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Smoke/e2e 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3309F2-3B95-452F-914F-7BB79DB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EE8ACB-A33F-415B-9BBB-A4A4802C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417A86-D250-452F-A1ED-4B13503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3CF89D-CE8E-46A5-B510-1D9F9F9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Google/Microsoft mail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4AABBD-D4CF-4694-9FE3-E9C5048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330246-58DB-4E96-8585-709A2E15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Zoom/calendar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E0FBAE-A2CF-47BC-91EE-5021FF9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1544C-0202-4C25-988C-CED39126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Stripe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053540-1CFE-41CF-947D-E8F16A97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22E851-A9F7-42F2-B327-A1FDC383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SCIM IdPs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377216-0602-44B8-8EAB-FD8AD66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2C233F-13D6-41E0-A1A9-93B1424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Customer webhooks</a:t>
            </a:r>
          </a:p>
        </p:txBody>
      </p:sp>
      <p:sp>
        <p:nvSpPr>
          <p:cNvPr id="5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41D03D3-9064-45EF-B7FC-249F2C0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REPO TOPOLOGY</a:t>
            </a:r>
          </a:p>
        </p:txBody>
      </p:sp>
      <p:sp>
        <p:nvSpPr>
          <p:cNvPr id="5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F31E98C-F9BA-451A-AD08-71AD0D72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83482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3A6F3-B0E1-472A-8DEE-A8D3EA5B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8C7F82-E727-4816-9213-DE351BE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092B0E-57C5-4E46-9D37-CB273ACE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C32EBD1-9928-46A2-AD0E-473F621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Actix composes one API gateway, public webhooks and worker roles from the same codebase.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3B7B200-BC98-4EDC-8EE7-151E366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RuntimeRole controls whether the process runs API only, email sync worker, email body worker, or all 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727D2-277E-4E1A-995A-3FAAA01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HTTP Entrypoints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5FC0B-5724-43B3-BCF1-F57DBB0E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F499-4653-4DAA-98C4-E051380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/api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C25B5-5F26-4329-82EE-3A59F63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7C9CD-2A87-45CF-81CB-E527B78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public email OAuth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B6F1-3AE5-477A-8598-E2F8900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E2F48-CD33-4852-A69F-281693C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Stripe webhook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B1A7F-F839-4B48-8C13-AB1025B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AC156-B111-45B1-9403-5A29D8A2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/scim/v2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2A41D-EA37-436B-BB21-63079C7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7AA4C-B471-4252-B347-B9C038AC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WebSocket/call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3EB41-08FE-4093-BB23-972D70A0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C8362-790A-40F3-BF02-8F11056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F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F6A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B8597-4DFC-4F93-AD32-99297DCC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FC787-D9C1-443A-8D9E-D581EB7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TracingLogger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DA906-398B-4A51-BF53-CFCA35C8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25938-4681-4C35-B05E-3D943739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API key middleware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F750A-3C90-48E3-AB97-057BD94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FF390-117D-4C57-B9F4-547DB4A5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Embed middleware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E5238-FA1E-466D-A1D1-B69E5B8F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87108-A78A-417D-B691-82D9744F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Rate limiter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C0592-0277-40B2-A54E-48A5B94C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AEEC5-425A-4A14-A979-17F74D2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08D97-82CF-4C8B-92C8-CABFB0AB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3D9CE-3E9E-4AB9-98BF-097A468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Workers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4FB07-6215-41E0-B96A-073730D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4854D-1373-46A6-A81E-D1185748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Email sync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010A4F-CC20-4DB8-97D1-6AA988C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3F792-F9A5-4E92-8F64-3622094A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Email body worker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C7FACB-A86D-4F3C-8C7D-01EFECB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347315-E090-4E1A-8336-76F3A8D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Billing worker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F6B5F9-7AFA-4285-9994-DA81BB4C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871B13-0CCC-4924-8108-EE942CB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Webhook dispatcher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6FBC8E-B296-43FD-A28A-A046B76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F5ADEA-7A3A-47CA-9F14-F6CFD6CA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Runtime role switch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D736F2-0381-4204-A352-FBED761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529FA-ACFD-4B81-9EF3-C5E32CF8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D3C467-66BF-493A-A042-F014A7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4B182B-B7E1-4248-9875-B54CF836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Postgres pool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3A3938-AA20-403D-A70F-9007157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A30329-E396-4C8B-A1C7-7F7CB82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21CEC1-6949-4516-9C5C-8740A269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1830CD-9FEA-4DDD-BCCF-9AE48E63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DB startup schema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628A1A-6204-4F7F-A28A-0E42B35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923964-7F2C-43C9-98F2-8EAC605D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Encrypted payload fields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B2DA1D-725D-4598-BD92-ECEA6E9E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B44109-BC1B-4C3F-AC06-47BE7A6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5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A9D0ABA-7F8C-4966-925F-BC07714E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RUNTIME</a:t>
            </a:r>
          </a:p>
        </p:txBody>
      </p:sp>
      <p:sp>
        <p:nvSpPr>
          <p:cNvPr id="5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5551E8-8F53-43DA-9E2C-3173B2E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944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BBA54-7A8D-490D-9871-164B588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58CF3F-6C30-46B2-B057-B737CFD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2BF685-1086-4395-91E0-E24B10D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4344BA0-8903-4BD8-AFCC-B01416FF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Security is layered: session JWT, API keys, embed JWTs, SCIM tokens and DB-resolved RBAC.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2B16EEB1-632B-400E-99EE-5778347F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RBAC role context is computed from membership tables at request time; it is not trusted from JWT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3D7E1-3464-4C35-8C40-FAA53A51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477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C5B78-50DC-43A8-A695-0CDDF2D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93CE3-105D-44C3-B6D9-2DB7051A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669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Local auth, Google/Microsoft mail OAuth consumption, OIDC SSO start/callback, recovery 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AC34B-82CA-4337-8047-0FCB632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8F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A365B-75E3-4F8E-BC96-2F316A4E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59DC3-8462-43A7-A247-F2D0633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717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Nine roles, three scopes and 22 explicit permissions in security/rbac.rs.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4EE05-9ED1-4C7D-B3BA-9831A3E8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1430">
            <a:solidFill>
              <a:srgbClr val="19A7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E5744-63A9-4FD4-9D53-E8F2189A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API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1E04D-4EB8-49AA-BF5B-763D4390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Scoped API keys with expiry, key type and per-key rate_limit_per_min.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2D209-3CAB-4F74-BF7F-3FA6AE56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6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6CE00-D62B-4B10-9170-87D592B9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Embeds/SCIM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6F352-0E30-4F8D-9052-10218294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Origin-pinned 5-minute embed JWTs and organization-scoped SCIM bearer tokens.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9B4F9-7400-4BDE-A860-C8A0D5E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11430">
            <a:solidFill>
              <a:srgbClr val="F26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640CE-BA11-4D6A-9893-44877B6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Crypto posture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A8B9A-9464-4179-A896-BF7C2A23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863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Encrypted email, meeting, notes, files and recovery key material appear across modules.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AB1EC-B543-45B9-9F78-F46B818D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13364-89E2-4662-BD1C-9CCED075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Fail closed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D1736-92A0-4E36-A2E0-60D6FC5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Auth mutation routes return service unavailable if Redis rate limiting is unavailable.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B1050-0E9D-4A23-87C3-75F6FE5F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FADA0-BDFD-4AED-ABFA-1CCE98E1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Least privilege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32925-3693-442C-974A-BC90BCA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External API keys require explicit scopes and expiry; wildcard blocked.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C468BE-DECE-4AE7-80BC-DB752D8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F2991-38E9-4C53-9CB6-18D3DDE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Auditability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016C2-5965-4BF4-9CFF-C784DF30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 key activity is logged and exportable in JSONL/CSV.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0F908F1-0D32-4A6A-A6AE-B4C701A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SECURITY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607478-9E7A-4697-A2AD-FFD47F6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14430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9A0E4-84A8-4791-A898-C676E98E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67828B-DA95-4D36-B961-0F802EA8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4AEFE0-E47B-4469-992F-D0740065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7499591-2D88-448D-B587-B1F834C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Postgres model is domain-rich and already separates identity, work objects, billing and platform events.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D3B54A1-5CB3-4770-9AFB-355C341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Schema exists both in init.sql and startup guards; startup also creates newer webhook 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C2E1-31AC-4923-8AC2-7BC6BE8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61083-E9BF-4146-85DA-315A7A9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9067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Core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9CA5A-7073-4E89-B9FD-C7984F0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5906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Important design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9E1B3-8A1D-4BCC-8EE4-7D29849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906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Risk to watch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ED6FB-79D5-4A51-8642-9EBE56E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DEC19-F791-403E-B11C-0497E06D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CFAF5-DB2E-4CDD-BF18-A273A213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users, organizations, members, platform_members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7C0D0-9E2B-418C-8BC9-98FEC63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7645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Account type and membership drive routing/RBAC.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87CC2-2170-4166-914D-CB3921A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7645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Role drift if UI and permission catalog diverge.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B02D1-1EAD-4F6C-ADA5-36DAC2F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A7DF0-1444-4FD1-ABF1-DD6730BF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Email/work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5F469-30A3-4FF5-996A-65B4931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email_accounts, emails, attachments, meetings, participants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F3DE2-62C7-41E3-956B-4F4A025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289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Shared inbox state and encrypted meeting 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E1E97-A068-454D-A54A-C09C2A0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289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Mailbox sync/backfill complexity.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A2342-FD07-46B1-9E83-C40E527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52786-B76C-4664-BB77-0D011DE4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Collaboration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F176B-4258-4A94-ADDE-727F550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messages, channels, channel_members, files, notes, tasks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79E12-DC83-4E17-B07D-F08C3E8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E2EE-aware chat and authenticated file delivery.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34146-C606-49ED-B9EA-5372C33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8135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Cross-object search/governance.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BC45A-3980-4347-8648-0CA956F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E6AF4-A277-4B16-975A-A26CDF3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Billing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33718-D64E-489D-8DC6-79788BC1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customers, plans, subscriptions, invoices, usage_events, entitlements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289DF2-2D7F-463A-AA08-F72F1B5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338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Stripe-backed lifecycle with quota hooks.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5EB0A-0E22-42B0-98DF-BE05673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33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Plan migration/versioning.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07502-0432-45E8-8B85-05B8B3E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86AEA-D3CF-4B5E-B8CA-63C80805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9F66B-46E0-41BE-916F-61D076AF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api_keys, audit_log, webhooks, scim tokens, siem configs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01014F-CF78-47F2-A39A-0976BD3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28625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Developer and enterprise controls are first-class.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D2753-3D3B-4098-AC62-FED56FB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8625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Operational SLA evidence.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F951E68-8947-407A-85CE-A3CCBB8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DATA MODEL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508F7B-A156-46EF-B561-BD5A1E7C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86783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729A5-46F8-4112-982B-8C1FD3F1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7E1C16-39BA-4C74-95B0-2C62DDC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5E2F1D-A80A-4D58-87CA-E66133C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B545455-61F9-4D4B-A488-7C8EE03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Email ingestion is worker-based and event-producing, while send flows emit customer webhooks after provider success.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67F2656-6122-40B7-902D-271EB622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event producer for email.received runs only when sync inserts a new email row, not for body backfills.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C82A7-DADD-4BD2-A785-CF43EEF7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7C77D-CAE7-40E9-9145-6AA3CBA3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A50B9-A1E6-4850-9262-91029982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OAuth 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FD4D1-4A33-48F0-BF2F-C229BAE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Google/MS/OIDC provider tokens are stored per email account.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45E7C-B58F-4030-BAD2-AAB08A5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0444-6152-4DE9-AB72-D65D126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60902-DE8C-4105-8035-A6880D0D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6FFE1-86C9-4FBC-A7C7-E9213060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Header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D83E5-E82D-42BB-81FC-2C7CE75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Sync worker fetches mailbox headers and inserts new 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68D01-25A3-4258-9D9F-5240CC0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3EF1C-32CC-484E-9322-CBF6DF63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AB8E5-42D2-4A6E-8945-5198BB0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8E12C-835A-4113-8B03-1C7A35E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Body backfill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A469E-F1D0-403E-A3CD-7720F3A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Body worker fills missing content without duplicating received events.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79A3B-72E4-4992-BB47-E39B83B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FCA8B-1B6C-4168-8AEA-F14094D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64CD9-3054-460E-9D90-FFC3E60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358F9-521C-45D2-9979-670887AB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Shared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509A9-7538-460B-A10D-CBF855AA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Shared inbox members track status/assignee on top of email rows.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3CBB0-B421-487C-8BF4-53D3A209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400DE-BFCB-4DDD-95AF-CAA3F8B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37524-AC94-4DDF-AB00-9F0EF85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43BB0-EA1C-493D-B4AD-B6B841F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Outbound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1A3197-ECCC-4FA6-B602-8A8798D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email.received / email.sent enqueue webhook delivery rows.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2AA3E-89A5-4A4B-9E05-129D38C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The pipeline separates primary mailbox correctness from best-effort customer automation.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0CBA036-250F-4B7A-9BC2-F69124D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EMAIL PIPELINE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5D5B199-810B-4C6D-A065-F6991FE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59950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68B6-D113-42B5-BE1C-093C072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2CA6E3-032D-4E63-B445-BBDFBE0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954DB6-1B4B-406D-8A2C-0DE59EE0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WEBHOOKS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A422A3C-B499-4669-82DE-ED842C8D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Outbound webhooks use a durable enqueue/dispatch design with retries separated from producers.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53BDA45-D1EB-42D4-AD87-0FFEEF0B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Producer writes never block on receiver availability; dispatcher claims pending rows with database coordination.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9674F-6940-4BC7-B62C-DFD2C90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78584-1AA8-466C-883C-E3BDDE29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775EC-00C5-46DA-BBDD-2AC4CB8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Producer emits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BE12-F840-46C4-B9E5-5F09F29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Task, meeting, email and chat code call one emit helper.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3A2DD-403F-43B3-9111-ED210C8A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EB0CF-41A0-4FD5-B1A8-0BA2B97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C7103-400B-4259-A08B-0797DD1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01F4B-9A01-4B9F-BB7D-EF5C606D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SQL fan-out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3391D-9149-435F-A498-CB157B6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INSERT...SELECT creates one delivery per matching endpoint.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70F4E-9DF4-4055-A245-6615BB92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47FB0-D8B1-4D89-B37B-7F3F879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1EF0D-876C-4740-A3D9-05E1BA6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A358E-FB69-4C93-8399-1F516AA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Delivery 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07B41-D23F-4048-96C0-4C0B97F3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Rows track status, attempts and next_attempt_at.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1F161-F8A8-4676-96C7-3C0CC16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8C13-AB9D-4506-BB84-BFCBC7A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73216-86E2-4A71-8499-14A94BEF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F433B-051B-42D8-A2D0-63581F7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Dispatcher sends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E0B3F-82C5-4FEB-8481-6122185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HTTP client posts signed payloads to customer URLs.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48840-6E6D-41B2-83CC-993606A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EA0DB-3913-4B5E-83E8-75D6EAF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A890B-BF85-428C-99BB-CB87ED92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7EE88-672A-4BEF-A2A2-D8E138F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History visible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3BE55-05DD-4709-A187-F975B89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Dashboard endpoints list deliveries and endpoint health.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4AB47-BCF9-4802-B506-C9E5C986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Event catalog: tasks, meetings, email, chat messages, channel created and wayve.ping.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55AAEAD-01E2-4CBB-B71C-CAA56BE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EVENTS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EC0BC4-6537-42E9-97EC-315047F3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23235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2BD3F8-75A8-4DC8-B3BE-0E0CE57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371CDE-664F-4426-9CCB-A2FD1DA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061F13-B543-4DE4-B931-8B6F943F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C717A45-0429-4A3D-BDD8-6AF8370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React app is role-aware: public acquisition pages and protected workspace pages share one router.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6A0D2D8-C038-4BEE-92D8-7BD0E15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homePathForUser and account_type decide whether users land on personal, organization or platform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002D9-30A1-4ECF-8E03-CD8ECF46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03A73-AE61-468B-8DEA-07D952E6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CF1E5-AC50-47D4-A1E7-F65E8C5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9830D-2969-4495-AEE8-29E720F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044BB-C6EB-4BEC-BFF0-BDD1A5EB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3952D-1458-4438-9AED-6F82635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82A88-870C-4984-92AF-2F7911B9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43D42-4FAC-4B1B-9550-99634F3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717B4-CFC0-4D69-878F-E52D086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59461-A733-40CC-9C44-4F3527B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952D5-2492-4576-8D82-62C0AF7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Developers/docs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558A2-C4D7-4C11-9C78-912A0B55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B0BC7-6E2D-47DE-9E54-3DE2210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Workspace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B329E-26FA-4721-80AA-D0700A1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6CF76-456A-4546-A0AE-49A33AE7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84ACF-F2B2-49B3-B038-5EF79DC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F354D-87C6-4C7D-8E77-74FF75E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BF2BD-E44E-423D-9752-0AC8FDB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459D5-22DC-42D5-9B9F-915EAC2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Chat/call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D4400-F292-4F57-BDE6-5662FF53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7010D-677C-4443-9F23-A7EF1BB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Drive/files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4A8BD-1AF6-405F-80E3-6AF95EFB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92033-A063-403A-8DA4-4439BFB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Notes/tasks/AI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1BC5F-7B71-4611-84A9-171C7EDF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A5EBB-EF2A-421C-A92D-E06F103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D6EF0-E95F-438D-9982-9A85422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09CE9-7A58-404F-BB94-2ABA8E5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Organization home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92178F-F714-417F-9B42-6D050DA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70D70-3056-435C-9756-98421F01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Members/roles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C3F70-13DA-46B9-B985-91DB424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88EDD-46A8-45FC-9A7C-9131841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Billing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CA4FB9-9462-4502-87E8-DAAAE4B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70C077-6475-469F-B884-A141C59F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API keys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A9B98B-7667-4D23-A45A-AFAEB15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EA599-0A77-445B-A83B-6CE08511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Security/audit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04DE41-6FB5-4258-A74B-8C084431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35341-5149-4371-8D05-B36636E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240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C6F1CB-31EC-4502-94F6-A8583A6C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C7272C-38BA-48DE-93F5-A79D2E5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28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Platform admin home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276C83-48FA-44EE-B72F-C18338A0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9DBB6B-A3BE-4ED5-B397-ED1FF9E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718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Platform billing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B758A8-3356-453F-ACAA-3B49B62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909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C776D1-05B0-4EAC-BE3C-5F61CFD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14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6D53AF-55AB-489D-B975-7DAA6BAA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33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AC7D6A-AC67-4911-B0A3-7A2E5C0F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577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B6804C-53C5-456C-9458-D6E078C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76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4BD9E5-D27C-4A84-833B-4A37140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00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5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43A5762-CEFC-456D-A004-F216092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FRONTEND</a:t>
            </a:r>
          </a:p>
        </p:txBody>
      </p:sp>
      <p:sp>
        <p:nvSpPr>
          <p:cNvPr id="5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10B24F7-B982-4ACC-9DB0-FD08D8C8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22302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20719-36CE-4E1D-A627-A242D46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E16608-6B58-4458-8F42-0CA5DA9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A90E48-09AD-49AA-957F-D1D9E9FF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E53F80E-46F9-4444-835D-D23DC98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developer layer has discovery, scoped access, customer events and pull-mode audit export.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05F17D8-B4B0-4BAB-BC01-E59983D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OpenAPI is served at /api/openapi.json with ETag/cache headers and a 2026.05 API 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A3087-C72B-4D27-B148-E281F93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8DBAC-109D-4030-9891-7D17B71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90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1C51B-2FB5-4F1C-BD05-A5A7E67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90675"/>
            <a:ext cx="2524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FFCE-FE40-44DE-B282-7C68A8A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90675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Technical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4B242-F182-47FD-B1CD-DBCB25B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F59CC-C123-4A94-92C3-C82532CB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OpenAPI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E3989-B9A8-42EF-8E92-BBD80C8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Static serde_json spec built once and cached.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BDB20-3555-414C-A43E-55F0427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76450"/>
            <a:ext cx="2486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 key security scheme and scope catalog.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C2A44-0D77-45EF-929A-71BA55B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764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Keep spec synchronized with all supported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34D2B-7BCE-4366-9FFA-6E77076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6C0D5-067F-43A9-9FEF-4B60A73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API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7621A-CE91-4ABF-BF62-0A0FC248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Raw key returned once; hash persisted.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0D8D3-93B3-49DD-8D0B-7AA096AB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2486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Scopes, expiry, act-as user and rate limit.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11412-F1BB-40E9-A950-6ABF043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2890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Redis-backed per-key rate limit audit path should be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13626-EF8B-4344-918F-6950DA7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664A5-A402-4EC4-84EB-45AEDF2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Webhooks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D0C66-44D8-429E-A523-B6DF3B0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Endpoints, delivery history, event catalog and dispatcher.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0211B-14A0-4CC5-A90E-54612A9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81350"/>
            <a:ext cx="2486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Secret preview and signed payloads.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F2057-FAAF-44BD-8B08-A5A8CF1C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813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Customer retry policy/SLA docs.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55AE6-999B-4853-AB94-2F1D0C3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D27C3-11E4-4E42-90F8-7F4ED04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Audit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86294-0C45-47F9-AA5B-ACEA566A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Cursor-paginated JSONL or CSV.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20ACB-F7F3-464A-81DD-0E54C01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33800"/>
            <a:ext cx="2486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RBAC-scoped visibility.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266A6-29F2-483E-808E-15DB948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3380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SIEM examples and retention policy.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0547B-FEC1-4BE0-A970-336C9842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276C8-FF78-4AAA-852B-A41CA5A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Embed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700127-D31E-4C6C-8155-1AE620D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862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Origin-pinned JWT, 300s TTL, GET/HEAD only.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94E02-E952-499F-A90D-6668A577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2486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Allowed read scopes list.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C93F9-56FD-4890-A5F0-8C2C379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862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Widget-level allowlist and iframe docs.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CBC6630-B8C3-4479-9BBA-1E70A0C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DEVELOPER PLATFORM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8109D71-1D88-4EC9-BC26-D72F1BB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42782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FD589-5825-44F3-A4A9-25431B8A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53046C-B25A-496E-90F2-98B99793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5A45E8-BD9C-4F12-8655-57B3360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5B3C0B6-E6CB-4C33-9616-040C853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SSO and SCIM are implemented as separate contracts, which matches enterprise integration expectations.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2B3E683-A0C9-4DE2-B7BD-96A3193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SCIM is intentionally outside /api at /scim/v2/* with its own bearer token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CD8E-C666-4CD6-9F88-106464F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8EB8F-ADD1-49E2-84D1-46FC73D3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90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Routes /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9CEC2-42B1-4624-BE60-7EAD935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906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BBF02-B4A1-4EF2-8CE3-3D470DE8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90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Hardening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F6AAC-D59F-4010-9A38-DE156BA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DF3F1-A55B-4C51-9B39-570EF68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OIDC 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EE711-B56F-4CD3-9BAB-C0ACA613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764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routes/sso.rs + security/sso.rs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9E6FF-57AD-465E-A889-8D5881E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Config, start, callback, PKCE/nonce/JWKS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69A2C-F26D-4A27-9F29-0AB6D15D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Provider matrix tests and end-to-end callback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2C6E4-7A64-436C-B8B8-1F135C6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6B0AA-6850-48A3-8976-0085EF1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SCIM 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FA6B6-C6F8-46CE-92DA-B7CF707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/ServiceProviderConfig, /ResourceTypes, /Schemas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1DCA0-669C-4EDB-81F0-4A32DF1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IdP can discover User resource and auth scheme.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0FE70-D4FE-4DA7-8FA7-3190261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Patch/bulk intentionally unsupported; document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8CAC6-C9AF-47A2-9936-806B07B4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A9770-C8CF-4F6F-A740-4FA8E09C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SCIM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45765-1B88-4803-AC90-B4E63E3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GET/POST/PUT/DELETE /scim/v2/Users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6FC61-DB8B-41F1-A4FE-719E42B9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Provision, replace, deactivate/delete within organization.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6342B-5B5C-40E7-B27A-DECBF337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IdP-specific mappings for Okta/Entra.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552CA-22DC-4D20-9207-7ED375A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63D14-4FCF-4955-B775-DB3B1DD2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Admin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20EF5-AB3D-45A1-8040-32ECF00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scim/admin.rs + settings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C8CB9-2D51-4BF5-87C0-EFF8A00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JWT-gated token lifecycle for org admins.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F036A-DECE-486E-83FF-3C7A680F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Token rotation and audit UX.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4087204-E87B-45BA-892F-1903137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ENTERPRISE IDENTITY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A9DEF5A-BC40-4BFC-BDB1-98055CC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42556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723C9-4A85-406F-8110-DDFADB3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B02409-B24D-4720-9ABA-7070A33D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2AEA3-BA3C-4BB7-B9EE-640D954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BILLING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A1E1B46-24BE-43F7-AE2B-5B883C57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Billing is a full subsystem with Stripe lifecycle handling and entitlement recalculation.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0118534-54FF-4A73-86B7-6AAF462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Billing worker, webhook receiver and quota/entitlement modules are separate from app feature handlers.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1845F-5B8D-4B44-83BE-1BE002D5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11430">
            <a:solidFill>
              <a:srgbClr val="F26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E70CD-EE7B-4814-90D0-CFCD9948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Provider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DBF71-8D42-4955-A1CF-1C0D42F5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669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Stripe request/response helpers and webhook signature verification live in provider.rs.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FB492-CD1D-4B1B-A661-7346BFD6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E0BEE-051C-49B0-A9AB-7A19EED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B4BF6-CF97-4434-8F11-6DDC246A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717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Checkout, subscriptions, cancellation, invoices and webhook deduplication.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6757E-BB44-426D-9B4D-51A10B2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1430">
            <a:solidFill>
              <a:srgbClr val="19A7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0BB45-2405-44AD-A5F1-309CB59C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5118A-D0BB-45AD-ACAF-724D976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plans, tiers, quotas, entitlements and usage metering shape feature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39E3F-8F63-4142-85AD-AF6569C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E20FA-1D16-4712-913A-1DE8EBBF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Org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36C35-46F3-4B71-97F0-571C5B82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organization_billing and platform_billing separate customer org billing from internal views.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80F18-E70C-4FE0-BCDA-66ED70CC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704D6-85EF-449E-860E-E609D7A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Good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BE309-C2D6-4ECA-97E9-538DEAE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Billing concerns are module-isolated; product handlers consume entitlements/quotas.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F2B81-203B-4B48-9C68-5F491B51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49298-976F-4615-B098-9CA3FE1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Operational need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3EB7F-89AD-4A48-A8CD-CF449ACD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Add dashboards for failed webhooks, plan mismatch and quota enforcement.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7C092-3AA8-478E-9B4A-13989597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EDAF2-4EE7-4E32-8B82-7D3CC79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Pricing lever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E19D5B-DE82-4C2C-89AB-A9EC54CE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Usage events are ready to support expansion packaging.</a:t>
            </a:r>
          </a:p>
        </p:txBody>
      </p:sp>
      <p:sp>
        <p:nvSpPr>
          <p:cNvPr id="2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2289304-3BDD-411E-BE3E-57A8726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BILLING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7FC343-8752-4714-9D19-93CB840C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23334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323D9-B47F-4425-94C8-9176F9C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71DA8E-1B96-4464-8B30-03BB433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1686DC-83F0-4554-86C2-5DE64F78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F9173B0-06CE-4FD7-9AB2-A17A9B6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main technical risks are verification depth, platform contract drift and operational observability.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F86D298-9A21-4192-BD31-DA12605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Earlier cargo test was blocked by an unrelated tuple mismatch in email_sync_test, so Rust test status remains not fully green.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6A3A-7F43-49EF-AE10-EE465CDF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Engineering 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14051-2F10-4CEE-A0D8-18C13140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2AA80-1746-4344-A856-246BC13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Contract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0B4AC-0254-4B18-9988-5C5743D3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OpenAPI is hand-built; route changes can outrun published docs unless tested.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1FD15-6283-4990-BC3C-1477EFF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695B6-7E11-49CD-9CCC-FD7E37C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Broad surface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55F96-9FFB-419E-A5FF-B0981A4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Many modules increase regression risk without targeted integration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27ABF-5A7B-4CC8-AB20-A5CF002E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5276F-4C67-45B8-B1D6-4184970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Async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E8ED2-FAF3-47F4-9372-4B0048F1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Webhooks and workers need dashboards for stuck queues, retries and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24880-394E-4FC0-81FB-CF161ED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621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F6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F6A"/>
                </a:solidFill>
                <a:latin typeface="Aptos"/>
                <a:ea typeface="Aptos"/>
                <a:cs typeface="Aptos"/>
              </a:rPr>
              <a:t>Mitigations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17759-29A1-4D23-B2E9-7EBE297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43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9A53C-2471-439D-8E61-462BD961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76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Spec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D30DA-0AC2-43EF-936C-58176FD1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Add route/spec snapshot or endpoint coverage checks in CI.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76563-8562-4A64-83D3-F2A7850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65604-31A3-4FA2-9F3F-F4098DE6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194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IdP/integration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8BD0E-0933-4960-91F2-2283565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48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Automate SSO, SCIM, webhooks and embed-token 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E1595-D8D5-41C2-ACAA-CE4D1BD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B4E54-50BA-4774-887B-9EE2B9B0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62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Ops instrumentation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B9A7-CDB4-4E59-BCA1-6DBCBDE7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910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Expose worker liveness, queue age, webhook failure rates and sync lag.</a:t>
            </a:r>
          </a:p>
        </p:txBody>
      </p:sp>
      <p:sp>
        <p:nvSpPr>
          <p:cNvPr id="2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BB942A7-14F1-4A62-84FA-8009DD5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RISKS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19AF62-3761-4451-AADB-3941C186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054622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3B8A5-8BAA-4E4E-8B51-1764CC1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F404BB-8AD3-4746-A5A3-830913C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064F0B-73D2-490C-A047-D2C44BEA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6600AB2-C325-4583-B0A8-9F613631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Technical next steps should convert implemented surfaces into reliable platform contracts.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EE27E03-FD98-4AAE-8D01-234DE4FC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Priorities are ordered by buyer risk and system correctness, not by UI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A1BFD-C6DF-4F3B-BCF1-E56915E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42022-2C90-4D24-9D1F-0C5171F3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239A4-4EAF-4C5F-B87F-32A7BE3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AB633-C46A-4208-8389-018CF66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Make tests 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4D27A-50F7-4F73-9B89-CC4F5127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Fix email_sync_test tuple mismatch and run focused SSO/SCIM/webhook suites.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BEE7A-F9A6-4BD5-8BB5-6ABC6952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D0D93-5544-479A-B685-B71DC165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A4605-F205-44D1-90FB-4DFF749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Lock 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6790A-495A-45E8-ADAA-855195A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Add OpenAPI route coverage, webhook event examples and SCIM compatibility fixtures.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931E9-2593-46C7-9E46-3CD6497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34DFC-5411-405F-A82C-F77ED7A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AF6B2-973E-4731-B359-9B04069B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Expose 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87B7F-BAB2-4690-8BF0-EDF7149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Create worker queue, delivery, sync, billing and audit health dashboards.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873CC-DF83-4F05-8E03-F3ECC69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B867D-44A2-402E-862E-14EBA24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53AD6-FA53-44DE-9109-C35140E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Build OAuth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609AA-D6BA-46E0-9F0D-B9A80C48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If ecosystem strategy proceeds, implement auth code + consent + scoped tokens.</a:t>
            </a:r>
          </a:p>
        </p:txBody>
      </p:sp>
      <p:sp>
        <p:nvSpPr>
          <p:cNvPr id="2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B437582-DA1E-40C6-8255-FE8BE46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TECH / NEXT MOVES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3B84FF-F4C2-48C7-B5DC-C18AD01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8669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2026-05-24T15:53:50.3120000Z</dcterms:created>
  <dcterms:modified xsi:type="dcterms:W3CDTF">2026-05-24T15:53:50.3120000Z</dcterms:modified>
</coreProperties>
</file>