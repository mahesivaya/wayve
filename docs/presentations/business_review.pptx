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8f5a1bafbe464f" /><Relationship Type="http://schemas.openxmlformats.org/officeDocument/2006/relationships/extended-properties" Target="/docProps/app.xml" Id="R3f3362a720f3443e" /><Relationship Type="http://schemas.openxmlformats.org/officeDocument/2006/relationships/officeDocument" Target="/ppt/presentation.xml" Id="R9009653984a947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15fdc37cb94ae5"/>
  </p:sldMasterIdLst>
  <p:notesMasterIdLst>
    <p:notesMasterId xmlns:r="http://schemas.openxmlformats.org/officeDocument/2006/relationships" r:id="R52ddda2cd02c422d"/>
  </p:notesMasterIdLst>
  <p:sldIdLst>
    <p:sldId xmlns:r="http://schemas.openxmlformats.org/officeDocument/2006/relationships" id="256" r:id="R47567126419d4fff"/>
    <p:sldId xmlns:r="http://schemas.openxmlformats.org/officeDocument/2006/relationships" id="257" r:id="R71fad8385d3148f1"/>
    <p:sldId xmlns:r="http://schemas.openxmlformats.org/officeDocument/2006/relationships" id="258" r:id="Rfa401363fdbf4dfa"/>
    <p:sldId xmlns:r="http://schemas.openxmlformats.org/officeDocument/2006/relationships" id="259" r:id="R523d6fc273764e6b"/>
    <p:sldId xmlns:r="http://schemas.openxmlformats.org/officeDocument/2006/relationships" id="260" r:id="R699c5095b1c84de8"/>
    <p:sldId xmlns:r="http://schemas.openxmlformats.org/officeDocument/2006/relationships" id="261" r:id="Rb65698aa788946e1"/>
    <p:sldId xmlns:r="http://schemas.openxmlformats.org/officeDocument/2006/relationships" id="262" r:id="Re8c775d0253a4a81"/>
    <p:sldId xmlns:r="http://schemas.openxmlformats.org/officeDocument/2006/relationships" id="263" r:id="R53083110b231453f"/>
    <p:sldId xmlns:r="http://schemas.openxmlformats.org/officeDocument/2006/relationships" id="264" r:id="R8db17a28e9f04dee"/>
    <p:sldId xmlns:r="http://schemas.openxmlformats.org/officeDocument/2006/relationships" id="265" r:id="Rb4ae583c94f94813"/>
    <p:sldId xmlns:r="http://schemas.openxmlformats.org/officeDocument/2006/relationships" id="266" r:id="R092b22a6f00b4c5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15fdc37cb94ae5" /><Relationship Type="http://schemas.openxmlformats.org/officeDocument/2006/relationships/theme" Target="/ppt/theme/theme1.xml" Id="R1acd18c76e1f4f1e" /><Relationship Type="http://schemas.openxmlformats.org/officeDocument/2006/relationships/notesMaster" Target="/ppt/notesMasters/notesMaster1.xml" Id="R52ddda2cd02c422d" /><Relationship Type="http://schemas.openxmlformats.org/officeDocument/2006/relationships/presProps" Target="/ppt/presProps.xml" Id="R4b9fb4e86da64db1" /><Relationship Type="http://schemas.openxmlformats.org/officeDocument/2006/relationships/viewProps" Target="/ppt/viewProps.xml" Id="Rdfbdd921aa594fa1" /><Relationship Type="http://schemas.openxmlformats.org/officeDocument/2006/relationships/tableStyles" Target="/ppt/tableStyles.xml" Id="R088dff5bd05f4c33" /><Relationship Type="http://schemas.openxmlformats.org/officeDocument/2006/relationships/slide" Target="/ppt/slides/slide1.xml" Id="R47567126419d4fff" /><Relationship Type="http://schemas.openxmlformats.org/officeDocument/2006/relationships/slide" Target="/ppt/slides/slide2.xml" Id="R71fad8385d3148f1" /><Relationship Type="http://schemas.openxmlformats.org/officeDocument/2006/relationships/slide" Target="/ppt/slides/slide3.xml" Id="Rfa401363fdbf4dfa" /><Relationship Type="http://schemas.openxmlformats.org/officeDocument/2006/relationships/slide" Target="/ppt/slides/slide4.xml" Id="R523d6fc273764e6b" /><Relationship Type="http://schemas.openxmlformats.org/officeDocument/2006/relationships/slide" Target="/ppt/slides/slide5.xml" Id="R699c5095b1c84de8" /><Relationship Type="http://schemas.openxmlformats.org/officeDocument/2006/relationships/slide" Target="/ppt/slides/slide6.xml" Id="Rb65698aa788946e1" /><Relationship Type="http://schemas.openxmlformats.org/officeDocument/2006/relationships/slide" Target="/ppt/slides/slide7.xml" Id="Re8c775d0253a4a81" /><Relationship Type="http://schemas.openxmlformats.org/officeDocument/2006/relationships/slide" Target="/ppt/slides/slide8.xml" Id="R53083110b231453f" /><Relationship Type="http://schemas.openxmlformats.org/officeDocument/2006/relationships/slide" Target="/ppt/slides/slide9.xml" Id="R8db17a28e9f04dee" /><Relationship Type="http://schemas.openxmlformats.org/officeDocument/2006/relationships/slide" Target="/ppt/slides/slide10.xml" Id="Rb4ae583c94f94813" /><Relationship Type="http://schemas.openxmlformats.org/officeDocument/2006/relationships/slide" Target="/ppt/slides/slide11.xml" Id="R092b22a6f00b4c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8003cd700964c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5e3b6caccc4292" /><Relationship Type="http://schemas.openxmlformats.org/officeDocument/2006/relationships/notesMaster" Target="/ppt/notesMasters/notesMaster1.xml" Id="R07e514a7c9314f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ca7ddc01694d74" /><Relationship Type="http://schemas.openxmlformats.org/officeDocument/2006/relationships/notesMaster" Target="/ppt/notesMasters/notesMaster1.xml" Id="R175b48fef0f04f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67804d16f747bd" /><Relationship Type="http://schemas.openxmlformats.org/officeDocument/2006/relationships/notesMaster" Target="/ppt/notesMasters/notesMaster1.xml" Id="R683ae93952854e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8f90f5b8b845c6" /><Relationship Type="http://schemas.openxmlformats.org/officeDocument/2006/relationships/notesMaster" Target="/ppt/notesMasters/notesMaster1.xml" Id="R2f6ff9f005024e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2748c0880e4df0" /><Relationship Type="http://schemas.openxmlformats.org/officeDocument/2006/relationships/notesMaster" Target="/ppt/notesMasters/notesMaster1.xml" Id="R52346a780e2241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2613d962ec4160" /><Relationship Type="http://schemas.openxmlformats.org/officeDocument/2006/relationships/notesMaster" Target="/ppt/notesMasters/notesMaster1.xml" Id="Rc6637371875645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88fad1636234330" /><Relationship Type="http://schemas.openxmlformats.org/officeDocument/2006/relationships/notesMaster" Target="/ppt/notesMasters/notesMaster1.xml" Id="R5ef90639886f459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c94769df29a40e8" /><Relationship Type="http://schemas.openxmlformats.org/officeDocument/2006/relationships/notesMaster" Target="/ppt/notesMasters/notesMaster1.xml" Id="Rdbf5c7324d8b454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7d8ea79bc9748d0" /><Relationship Type="http://schemas.openxmlformats.org/officeDocument/2006/relationships/notesMaster" Target="/ppt/notesMasters/notesMaster1.xml" Id="R306960766f524e2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d7885c946fc4c01" /><Relationship Type="http://schemas.openxmlformats.org/officeDocument/2006/relationships/notesMaster" Target="/ppt/notesMasters/notesMaster1.xml" Id="Rab1cd4dee5714fa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c5b3e39441b412a" /><Relationship Type="http://schemas.openxmlformats.org/officeDocument/2006/relationships/notesMaster" Target="/ppt/notesMasters/notesMaster1.xml" Id="Ra844b495709441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b78ac311a2468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7f7e10b51804e05" /><Relationship Type="http://schemas.openxmlformats.org/officeDocument/2006/relationships/slideLayout" Target="/ppt/slideLayouts/slideLayout2.xml" Id="R2c54fdc2cdc449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54fdc2cdc449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328b832ec34521" /><Relationship Type="http://schemas.openxmlformats.org/officeDocument/2006/relationships/notesSlide" Target="/ppt/notesSlides/notesSlide1.xml" Id="R7b92832194dd45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ef52e27ea44261" /><Relationship Type="http://schemas.openxmlformats.org/officeDocument/2006/relationships/notesSlide" Target="/ppt/notesSlides/notesSlide2.xml" Id="R8fe8da9b1b6441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161176114e4268" /><Relationship Type="http://schemas.openxmlformats.org/officeDocument/2006/relationships/notesSlide" Target="/ppt/notesSlides/notesSlide3.xml" Id="R45759776dc1a4d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bba7390a0e4a54" /><Relationship Type="http://schemas.openxmlformats.org/officeDocument/2006/relationships/notesSlide" Target="/ppt/notesSlides/notesSlide4.xml" Id="Re3e464f34b624f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eba895270e4299" /><Relationship Type="http://schemas.openxmlformats.org/officeDocument/2006/relationships/notesSlide" Target="/ppt/notesSlides/notesSlide5.xml" Id="R7fe3d86b76994d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341085ab904a74" /><Relationship Type="http://schemas.openxmlformats.org/officeDocument/2006/relationships/notesSlide" Target="/ppt/notesSlides/notesSlide6.xml" Id="Rf3e4afa530f2467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3e09a9335547fb" /><Relationship Type="http://schemas.openxmlformats.org/officeDocument/2006/relationships/notesSlide" Target="/ppt/notesSlides/notesSlide7.xml" Id="R942a747500a24c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709a6618924cb1" /><Relationship Type="http://schemas.openxmlformats.org/officeDocument/2006/relationships/notesSlide" Target="/ppt/notesSlides/notesSlide8.xml" Id="R2a0bb99640de4cf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41a15a47084c29" /><Relationship Type="http://schemas.openxmlformats.org/officeDocument/2006/relationships/notesSlide" Target="/ppt/notesSlides/notesSlide9.xml" Id="R6da51228c716459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03ff06842d4513" /><Relationship Type="http://schemas.openxmlformats.org/officeDocument/2006/relationships/notesSlide" Target="/ppt/notesSlides/notesSlide10.xml" Id="Rfd142d6ef5bd439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9f06d3ed8f4572" /><Relationship Type="http://schemas.openxmlformats.org/officeDocument/2006/relationships/notesSlide" Target="/ppt/notesSlides/notesSlide11.xml" Id="Rba81d4278c3848e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3B47B9-C165-4BF0-9AE0-16C392F5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03A1F6-1062-448D-858A-6EC2826E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7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F96C80-47DE-44C6-AFE1-173E74EB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Wayve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CC01DC-A7A6-4DD4-A30B-8271B8D3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8096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Wayve is becoming a secure work operating layer, not only an inbox.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574111-36E9-476F-BCEC-C1DE181E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76650"/>
            <a:ext cx="752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8E1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8E1FF"/>
                </a:solidFill>
                <a:latin typeface="Aptos"/>
                <a:ea typeface="Aptos"/>
                <a:cs typeface="Aptos"/>
              </a:rPr>
              <a:t>Business review built from the current React/Rust/Postgres project on May 24, 2026.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BD7A19-97A5-4CC8-B227-F9A02A35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7049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F4287E-184A-4027-8542-3EDA4660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192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Unified workspace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57F698-ACC2-4A8D-BE2B-13BC496A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8478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C9E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FC9E8"/>
                </a:solidFill>
                <a:latin typeface="Aptos"/>
                <a:ea typeface="Aptos"/>
                <a:cs typeface="Aptos"/>
              </a:rPr>
              <a:t>Email, chat, meetings, drive, notes, tasks, AI and calls live in one product surface.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B1716B-B069-4D28-899D-1099438A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47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E754C5-1DD8-420C-99F2-BCC3691C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622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Enterprise motion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22D7EF-FAFF-49AB-9090-35FDEF4B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908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C9E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FC9E8"/>
                </a:solidFill>
                <a:latin typeface="Aptos"/>
                <a:ea typeface="Aptos"/>
                <a:cs typeface="Aptos"/>
              </a:rPr>
              <a:t>SSO, SCIM, audit export, webhooks, API keys and billing support customer adoption.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4E1005-C753-428B-9E0C-5BC0C08E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90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5B1E85-83D0-4C53-A9CC-889F4F8F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051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Developer-led growth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08C964-D24D-4A5F-BFD9-3CD681B62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3337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C9E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FC9E8"/>
                </a:solidFill>
                <a:latin typeface="Aptos"/>
                <a:ea typeface="Aptos"/>
                <a:cs typeface="Aptos"/>
              </a:rPr>
              <a:t>OpenAPI, docs portal, scoped tokens and event subscriptions expose Wayve as a platform.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DAC174-EF23-4203-8519-CDB0C2CE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19700"/>
            <a:ext cx="2414588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355586-699C-46FD-A211-9576CA3F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2071688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10+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ADF0FA-9690-4271-B58A-73466A1D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214788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D8E1F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D8E1FF"/>
                </a:solidFill>
                <a:latin typeface="Aptos"/>
                <a:ea typeface="Aptos"/>
                <a:cs typeface="Aptos"/>
              </a:rPr>
              <a:t>Core product modules visible in the app shell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F173E4-EAF0-43AF-BEEF-E6FF6C43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2288" y="5219700"/>
            <a:ext cx="2414588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8BB6C3-2514-45E0-867C-440F322D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5353050"/>
            <a:ext cx="2071688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709E27-45EA-47F6-B8A9-4D8BBEE8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5667375"/>
            <a:ext cx="214788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D8E1F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D8E1FF"/>
                </a:solidFill>
                <a:latin typeface="Aptos"/>
                <a:ea typeface="Aptos"/>
                <a:cs typeface="Aptos"/>
              </a:rPr>
              <a:t>RBAC roles across personal, organization and platform scopes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FEB30D-1D79-4FF7-83FE-5EC7EFF4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5219700"/>
            <a:ext cx="2414588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864D26-A856-40F5-967F-DC8A6B01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5353050"/>
            <a:ext cx="2071688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46E067-53F8-45F8-BCBD-B65C1DB1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5667375"/>
            <a:ext cx="214788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D8E1F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D8E1FF"/>
                </a:solidFill>
                <a:latin typeface="Aptos"/>
                <a:ea typeface="Aptos"/>
                <a:cs typeface="Aptos"/>
              </a:rPr>
              <a:t>Database tables/DDL blocks found across schema/startup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7BA045-0002-4BC9-96BC-492AF02F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8163" y="5219700"/>
            <a:ext cx="2414588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EC1A2A-869C-46B3-8944-A803E2B8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9613" y="5353050"/>
            <a:ext cx="2071688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376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B8E312-F06A-408D-BB83-57FBB51B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9613" y="5667375"/>
            <a:ext cx="214788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D8E1F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D8E1FF"/>
                </a:solidFill>
                <a:latin typeface="Aptos"/>
                <a:ea typeface="Aptos"/>
                <a:cs typeface="Aptos"/>
              </a:rPr>
              <a:t>Project source/config files reviewed for this deck</a:t>
            </a:r>
          </a:p>
        </p:txBody>
      </p:sp>
    </p:spTree>
    <p:extLst>
      <p:ext uri="{BB962C8B-B14F-4D97-AF65-F5344CB8AC3E}">
        <p14:creationId xmlns:p14="http://schemas.microsoft.com/office/powerpoint/2010/main" val="18666722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ED488F-0514-4E8A-92A0-14D92E45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FD4B3F3-BE3C-423C-87C6-CA973609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7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20DF6B8-1562-4A14-909A-45B8A929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44054"/>
                </a:solidFill>
                <a:latin typeface="Aptos"/>
                <a:ea typeface="Aptos"/>
                <a:cs typeface="Aptos"/>
              </a:rPr>
              <a:t>PRODUCT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BE308DD5-48E5-43CF-92F1-19676058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A2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A2D"/>
                </a:solidFill>
                <a:latin typeface="Aptos Display"/>
                <a:ea typeface="Aptos Display"/>
                <a:cs typeface="Aptos Display"/>
              </a:rPr>
              <a:t>The product now spans the daily work loop from communication to execution.</a:t>
            </a:r>
          </a:p>
        </p:txBody>
      </p:sp>
      <p:sp>
        <p:nvSpPr>
          <p:cNvPr id="5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6F13E2B8-75F5-4430-8632-03BDB1AD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810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Frontend routes show a complete workspace: email, scheduler, chat, call, drive, notes, tasks, AI, billing, profile and admin.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06C954-D374-4455-8BBA-2B44B8B1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200025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42C07B-3989-4919-87EF-72BC4F55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33625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Acquire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75A62A-AD9E-4CCE-AC2D-93F7D43F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14625"/>
            <a:ext cx="16573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Public home, pricing, enterprise, support, developers, docs and service pages introduce the product and API surface.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15174F-BB47-4294-B706-1896BF92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00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477E5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2477E5"/>
                </a:solidFill>
                <a:latin typeface="Aptos"/>
                <a:ea typeface="Aptos"/>
                <a:cs typeface="Aptos"/>
              </a:rPr>
              <a:t>Marketing pages in frontend/src/marketing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F15A00-0E30-49D4-8ECE-AF0229E8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324225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97CE53-971E-4D67-82D2-DD269802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276600"/>
            <a:ext cx="85725" cy="1238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42B3D9-E1EF-420A-9C7A-99610D13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43125"/>
            <a:ext cx="200025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61D3DA-9063-410A-B1C5-A51C0050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33625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Connect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ABED6B-62CE-49B2-868F-7A3B1D62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14625"/>
            <a:ext cx="16573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Google/Microsoft/OIDC email connect, local auth, SSO login and recovery flows get a user into a workspace.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179989-BB63-4CEF-82EE-2D5804EF3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0100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9A7A8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9A7A8"/>
                </a:solidFill>
                <a:latin typeface="Aptos"/>
                <a:ea typeface="Aptos"/>
                <a:cs typeface="Aptos"/>
              </a:rPr>
              <a:t>Auth + SSO routes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8DB32D-A582-4961-B558-30C371B8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324225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A8E1AE-36A2-44EF-8325-FD3FB8DB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76600"/>
            <a:ext cx="85725" cy="1238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4F37EF-6D48-42BC-A93A-76815BC2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43125"/>
            <a:ext cx="200025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5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19CD1A-677A-462B-B201-F393B9F3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33625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Work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238F9B-6A24-46C8-BD91-DED49813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14625"/>
            <a:ext cx="16573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Inbox, shared inboxes, meetings, chat, calls, files, notes, tasks and AI cover the daily collaboration loop.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592C36-A0B2-41DF-AC72-8CA6B6C7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0100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9A7A8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9A7A8"/>
                </a:solidFill>
                <a:latin typeface="Aptos"/>
                <a:ea typeface="Aptos"/>
                <a:cs typeface="Aptos"/>
              </a:rPr>
              <a:t>App shell modules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197D7E-F05E-41DB-80C2-C38C0EDF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24225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B3D767-CDB5-4402-B5F3-398C0621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76600"/>
            <a:ext cx="85725" cy="1238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8863A8-B2D1-4FCE-9FC0-3BF3C541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43125"/>
            <a:ext cx="200025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1BE963-F643-4464-8F22-3E29C73C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33625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Extend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34AACF-3FBD-4E9B-81BE-9A02D95A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14625"/>
            <a:ext cx="16573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API keys, OpenAPI, docs, webhooks, embed tokens, audit export and SCIM turn Wayve into a programmable platform.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1C0CB9-4A72-4153-B90B-3FF7E1B3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0100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26D5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26D5B"/>
                </a:solidFill>
                <a:latin typeface="Aptos"/>
                <a:ea typeface="Aptos"/>
                <a:cs typeface="Aptos"/>
              </a:rPr>
              <a:t>Developer + admin settings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2734B4-DD0F-4E51-B47E-2F90D00E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324225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D42E3A-5E96-4483-A1BD-60E9A5D9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76600"/>
            <a:ext cx="85725" cy="1238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857307-0E63-4506-935B-F9C24DA9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43125"/>
            <a:ext cx="200025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8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C96237-80B5-4EAC-A487-BE710CEE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33625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Monetize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2E9CA4-3F57-4619-B35F-891A7F31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14625"/>
            <a:ext cx="16573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Stripe billing, invoices, subscriptions, plan entitlements, usage metering and platform billing enable paid tiers.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3C3206-E5AE-462E-B14A-FAE8D843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0100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26D5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26D5B"/>
                </a:solidFill>
                <a:latin typeface="Aptos"/>
                <a:ea typeface="Aptos"/>
                <a:cs typeface="Aptos"/>
              </a:rPr>
              <a:t>billing/* modules</a:t>
            </a:r>
          </a:p>
        </p:txBody>
      </p:sp>
      <p:sp>
        <p:nvSpPr>
          <p:cNvPr id="34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BD27F3BA-F2CE-4B93-8FA4-84CA24EB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BUSINESS / PRODUCT MAP</a:t>
            </a:r>
          </a:p>
        </p:txBody>
      </p:sp>
      <p:sp>
        <p:nvSpPr>
          <p:cNvPr id="3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DD2BE8D-DDCB-431E-81E7-CE6C3A74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180602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39E8AB-7B0F-446A-AEBF-0ED6351A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C6301EE-4432-4A33-A02B-11C15CE6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7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B4D06A8-3CB3-45F5-A533-A1D46D4F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44054"/>
                </a:solidFill>
                <a:latin typeface="Aptos"/>
                <a:ea typeface="Aptos"/>
                <a:cs typeface="Aptos"/>
              </a:rPr>
              <a:t>WORKFLOW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E651F8AC-65C3-4C44-9174-EFEC4A55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A2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A2D"/>
                </a:solidFill>
                <a:latin typeface="Aptos Display"/>
                <a:ea typeface="Aptos Display"/>
                <a:cs typeface="Aptos Display"/>
              </a:rPr>
              <a:t>Wayve's strongest value story is fewer handoffs across customer work.</a:t>
            </a:r>
          </a:p>
        </p:txBody>
      </p:sp>
      <p:sp>
        <p:nvSpPr>
          <p:cNvPr id="5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D2869B0E-8053-4403-AC3D-D0CDE302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810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Outbound webhooks fire after the primary mutation, so customer automations follow user action without blocking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A606B8-D0E0-4F95-9094-0528EC1A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676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477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907270-84C1-485C-A216-323FD10AE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77E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77E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90C2A9-1A2E-472B-AD87-77AF3F37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Email arrives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ED8458-F73D-4DA4-ADC4-B5784F6F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Sync worker ingests message metadata and body backfills.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063DB4-D9BB-4808-BB75-78F0D894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0861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349913-BEE7-428C-8737-C1D62CD6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81250"/>
            <a:ext cx="1676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9A7A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320807-819B-47D5-93BC-2396F069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336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A7A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A7A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3A89D7-1486-4BB8-9C99-D8705BC2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3845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Team triages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79327E-F9DD-4EE1-BF84-25A3D6CD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2575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Shared inbox state tracks assignee, status and ownership.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08B68A-A6E5-4AB8-8D56-F8E8A742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861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E433D9-0BBD-4358-A681-53676EC9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81250"/>
            <a:ext cx="1676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5"/>
          </a:solidFill>
          <a:ln xmlns:a="http://schemas.openxmlformats.org/drawingml/2006/main" w="9525">
            <a:solidFill>
              <a:srgbClr val="19A7A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8ED488-E03E-4F07-B737-B2CE05C2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336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A7A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A7A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750B0C-8214-4A73-8B6A-66EB9CBA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3845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Meeting created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8E9F9A-4F20-4E69-94DB-EB72A0DA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2575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Scheduler persists meeting and participants with calendar/Zoom hooks.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037A02-F3A7-4649-87FE-6AA29F91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861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CE35FA-13E8-4844-8007-FA64032A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81250"/>
            <a:ext cx="1676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E66794-B1CE-416E-881E-DA3AA940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336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2B84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A1FFA2-8A96-4F85-9DC3-7DCADDE2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3845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Work is tracked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4E1317-79EB-43B2-AE80-6E241F78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575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Tasks, notes, chat and files keep execution attached to the account.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23CB1D-D9F5-4E19-B8E6-4533B71D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861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091B9C-753B-4297-BD97-75839B79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81250"/>
            <a:ext cx="1676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8"/>
          </a:solidFill>
          <a:ln xmlns:a="http://schemas.openxmlformats.org/drawingml/2006/main" w="9525">
            <a:solidFill>
              <a:srgbClr val="F26D5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EFDCAE-E28E-49AB-96B4-0E4E24B9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336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6D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26D5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77B095-DA47-4A8B-8CB2-738C2EB2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3845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Systems update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8596C0-C091-490C-A852-81DB45B7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575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Webhooks and audit exports feed customer operations and SIEM.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D4FB7F-A44C-4EC6-81F1-FFE94A3B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0125"/>
            <a:ext cx="9525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Business promise: one trusted record of work, with customer systems kept in sync.</a:t>
            </a:r>
          </a:p>
        </p:txBody>
      </p:sp>
      <p:sp>
        <p:nvSpPr>
          <p:cNvPr id="31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ECB65EEB-0606-454A-B2BA-32CD7BC6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BUSINESS / WORKFLOW</a:t>
            </a:r>
          </a:p>
        </p:txBody>
      </p:sp>
      <p:sp>
        <p:nvSpPr>
          <p:cNvPr id="3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A293A04-8109-46FF-9110-A02B4CA6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6130176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54D4EB-7CEE-469E-AA74-7C4B1686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DB14998-D7A1-421A-A76D-F5B72996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61885D7-DFFC-43EA-9FA1-0AC12253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44054"/>
                </a:solidFill>
                <a:latin typeface="Aptos"/>
                <a:ea typeface="Aptos"/>
                <a:cs typeface="Aptos"/>
              </a:rPr>
              <a:t>SEGMENTS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95D08467-7EDD-4F1D-BB33-AF2D823E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A2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A2D"/>
                </a:solidFill>
                <a:latin typeface="Aptos Display"/>
                <a:ea typeface="Aptos Display"/>
                <a:cs typeface="Aptos Display"/>
              </a:rPr>
              <a:t>The codebase already supports three buyer/user planes with different packaging logic.</a:t>
            </a:r>
          </a:p>
        </p:txBody>
      </p:sp>
      <p:sp>
        <p:nvSpPr>
          <p:cNvPr id="5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8AAFE301-AB66-42CD-9E1A-E6D1BE51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810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Role resolution is database-backed on every request, so a membership change takes effect without trusting stale JWT role claims.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E21F73-8ACD-47B5-8F49-75BE8DB5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9067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Plane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17C42C-87DC-4B7D-A55F-63FFFD59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59067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Primary buyer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BCEFEF-5C0A-4F17-8CEF-C4595916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590675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What they buy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E7528D-8CF1-4087-B734-2BAC3F3C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590675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Proof in 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BE3388-07F7-4005-AE6B-5F7E9746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3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F61E34-6F50-412E-A701-1BB4E2DA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Personal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D81735-86B1-475C-989B-B68861292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076450"/>
            <a:ext cx="215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Individual professional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621A54-F25F-487A-AEB5-4F72E8A3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076450"/>
            <a:ext cx="3105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Secure personal workspace plus connected inbox and productivity tools.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2E2D27-4353-4E7C-9326-285E0AE1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76450"/>
            <a:ext cx="2628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Personal account routing, self-profile, recovery, billing.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63D975-078A-4A40-8D4F-D19C1905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05075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196"/>
            </a:srgbClr>
          </a:solidFill>
          <a:ln xmlns:a="http://schemas.openxmlformats.org/drawingml/2006/main" w="7620">
            <a:solidFill>
              <a:srgbClr val="D8D3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052977-599D-4DF9-BFA5-8949AC64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Organization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7C991F-9A95-41EB-BF53-0B6263B3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628900"/>
            <a:ext cx="215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Team / department admin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B80BBC-F7F8-431F-BA97-895A5A10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628900"/>
            <a:ext cx="3105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Shared inboxes, members, SSO, SCIM, audit, integrations and org billing.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DF6CDB-29F8-4A20-95F6-D3653E95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28900"/>
            <a:ext cx="2628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Organization members, SSO config, SCIM tokens, shared inboxes.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89C171-488E-440A-B898-9638CEB3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57525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3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311C09-52E7-4CFE-9934-92BD9167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Platform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83AA06-E082-4BB1-A1FF-6C4666D5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181350"/>
            <a:ext cx="215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Internal Wayve operator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9B6150-5519-47CE-9F13-136EB968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181350"/>
            <a:ext cx="3105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Support, billing, developer, secrets and platform-wide administration.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E6CE70-0998-435B-AB6E-7272AB04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81350"/>
            <a:ext cx="2628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Platform roles and /platform/* surfaces.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3C66C5-754E-4CFA-8A56-3C7AA40B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9975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196"/>
            </a:srgbClr>
          </a:solidFill>
          <a:ln xmlns:a="http://schemas.openxmlformats.org/drawingml/2006/main" w="7620">
            <a:solidFill>
              <a:srgbClr val="D8D3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968750-E8F5-433C-A099-247B4E72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Developer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55E323-1594-4925-A74E-FFA652B4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33800"/>
            <a:ext cx="215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Customer engineering team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21F60C-7FB7-4088-9941-98B8F6E2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33800"/>
            <a:ext cx="3105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Scoped API access, OpenAPI discovery, webhooks and embed tokens.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E612F9-7460-494A-B9AF-11C716FA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33800"/>
            <a:ext cx="2628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API keys, docs portal, webhook endpoints, embed token routes.</a:t>
            </a:r>
          </a:p>
        </p:txBody>
      </p:sp>
      <p:sp>
        <p:nvSpPr>
          <p:cNvPr id="30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7F1F4671-3018-4155-AD08-555EDEA4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BUSINESS / SEGMENTS</a:t>
            </a:r>
          </a:p>
        </p:txBody>
      </p:sp>
      <p:sp>
        <p:nvSpPr>
          <p:cNvPr id="3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C1E8749-0418-4D87-923A-A180F798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5292021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51F886-BAD2-4DBD-BAFC-D2998097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B55DAB1-2E4E-4372-A436-C22A582B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5343C3A-0405-4F12-9E8B-471BCA8D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44054"/>
                </a:solidFill>
                <a:latin typeface="Aptos"/>
                <a:ea typeface="Aptos"/>
                <a:cs typeface="Aptos"/>
              </a:rPr>
              <a:t>MONETIZATION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8E065AF3-4ECA-497B-9941-237C4233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A2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A2D"/>
                </a:solidFill>
                <a:latin typeface="Aptos Display"/>
                <a:ea typeface="Aptos Display"/>
                <a:cs typeface="Aptos Display"/>
              </a:rPr>
              <a:t>Billing is wired for subscription revenue, entitlement control and usage-based expansion.</a:t>
            </a:r>
          </a:p>
        </p:txBody>
      </p:sp>
      <p:sp>
        <p:nvSpPr>
          <p:cNvPr id="5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DF4519F1-CB72-4822-8955-10CE7AA9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810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Stripe webhook ingestion deduplicates events; entitlements and quotas are refreshed as subscriptions change.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0531F-9927-498D-977B-F2CE0EA2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8"/>
          </a:solidFill>
          <a:ln xmlns:a="http://schemas.openxmlformats.org/drawingml/2006/main" w="11430">
            <a:solidFill>
              <a:srgbClr val="F26D5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73F6DF-A6A4-406B-8CA8-DC2C36EA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764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Checkout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146ADC-3CFC-4237-AE91-69086D97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66925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Checkout sessions, customers, subscriptions and invoice surfaces.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896805-18ED-4701-AAFF-D7495F72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57475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2B8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527DF3-D5E4-4472-B66F-6181A498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Plans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D61911-D305-4332-955B-38CA37D0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71775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Plan tiers, entitlements, quotas and organization billing models.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7A735F-EE02-4399-9599-892B0E4E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62325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5"/>
          </a:solidFill>
          <a:ln xmlns:a="http://schemas.openxmlformats.org/drawingml/2006/main" w="11430">
            <a:solidFill>
              <a:srgbClr val="19A7A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1A16C6-BB5A-4124-9087-A21EF3F6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861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Usage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2A75DE-7712-4DA1-96F5-90EED88F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76625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Usage events and per-feature quota modules create a bridge to expansion pricing.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1F7541-EE5E-4C9E-BEB9-7C1279D7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67175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477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78A1B2-61D2-47A4-A19D-1F173A85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Controls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53DB95-4F44-4739-B4FF-9B5AE799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181475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Platform billing and admin views support internal customer operations.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30A8F4-64C4-47EB-BAE1-3BB1A2A5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66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E61770-2894-468A-BAF4-46F8E73A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002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Current base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7321A1-70D8-4BEB-B5A2-19F79BC0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288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Billing tables, Stripe webhook receiver, invoices, subscriptions, entitlements.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FF0FFC-C923-4A7B-BA38-E86DDF7F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479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5EED12-E5C5-4180-8276-76F3F199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7813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Expansion path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4CCEAD-BDCF-4274-A81D-FA1033C2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0099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Package API volume, seats, shared inboxes, AI usage and storage.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993B76-59B6-454D-9EC5-EEFC65D4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290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56177B-3BC2-40DB-91B4-58481CC6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5623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Sales proof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486F6C-148F-4998-AB96-E33EA577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7909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Show buyers admin control, audit, SSO and predictable limits.</a:t>
            </a:r>
          </a:p>
        </p:txBody>
      </p:sp>
      <p:sp>
        <p:nvSpPr>
          <p:cNvPr id="27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3ABD9CD7-B6A9-4733-93D1-3CFB8803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BUSINESS / REVENUE MODEL</a:t>
            </a:r>
          </a:p>
        </p:txBody>
      </p:sp>
      <p:sp>
        <p:nvSpPr>
          <p:cNvPr id="2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164393F-005B-4F07-826A-F4829E7C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6614828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BD14B9-B85E-4924-9D82-8F4E7E26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6BC1BF4-253E-4B92-B9BD-E3825FB0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F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759961F-A858-4B28-97DA-68C012BA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44054"/>
                </a:solidFill>
                <a:latin typeface="Aptos"/>
                <a:ea typeface="Aptos"/>
                <a:cs typeface="Aptos"/>
              </a:rPr>
              <a:t>ENTERPRISE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2A0470E7-D242-4CAE-B4CC-ABE27159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A2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A2D"/>
                </a:solidFill>
                <a:latin typeface="Aptos Display"/>
                <a:ea typeface="Aptos Display"/>
                <a:cs typeface="Aptos Display"/>
              </a:rPr>
              <a:t>Enterprise readiness is no longer just a roadmap; most control surfaces exist.</a:t>
            </a:r>
          </a:p>
        </p:txBody>
      </p:sp>
      <p:sp>
        <p:nvSpPr>
          <p:cNvPr id="5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1908E47D-8C1D-4C20-947B-9433042C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810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Earlier gaps have moved into code: SCIM, webhooks, embed tokens and audit export are present alongside SSO/API keys.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31F31D-EE1D-46EF-A115-D8F38777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90675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Capability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E5ACB0-C7D4-443B-A9FD-ACF54B25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590675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Customer value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FDA22B-A762-41E7-8F65-F1875FC4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590675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Current status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08ED9D-A501-4A88-9C39-18FA4DE1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90675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Commercial use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A134AA-5D41-4EAF-B83E-A4CABF24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3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AFA715-4A54-4743-9D85-4BC00486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SSO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D0A4DB-4230-4F87-B460-608C316EE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076450"/>
            <a:ext cx="2628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Central identity and less password risk.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B2BA69-A6D1-4C5C-8E53-7864B12C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764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Implemented OIDC config/start/callback.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335A92-076E-40E5-A9A6-46698A6E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76450"/>
            <a:ext cx="2533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Enterprise security requirement.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D22BE4-A4D6-4509-AC24-1CCCF1ACE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05075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196"/>
            </a:srgbClr>
          </a:solidFill>
          <a:ln xmlns:a="http://schemas.openxmlformats.org/drawingml/2006/main" w="7620">
            <a:solidFill>
              <a:srgbClr val="D8D3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467CE1-65C3-4977-B7C1-C8812181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SCIM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0ACF24-4682-4EBD-BAC9-A610A520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628900"/>
            <a:ext cx="2628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IdP-driven provisioning/deprovisioning.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A79261-F5EB-4D8D-95AC-9AE45F55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62890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SCIM 2.0 Users + discovery endpoints.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91D406-EBF9-487E-8EF9-0DD4B2D5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28900"/>
            <a:ext cx="2533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Seat automation and IT adoption.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524FB8-DB4F-4416-AD9A-5CAF1223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57525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3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28C9DC-D3A2-4F1F-A3DC-46D3297B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Webhooks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956AA3-24A1-4107-AF28-D1E64C19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181350"/>
            <a:ext cx="2628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Customer systems react to Wayve events.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0AA816-9944-465D-8CEA-F653EE15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813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Event catalog + delivery dispatcher.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1F97F4-917E-4238-8009-4013A4D1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81350"/>
            <a:ext cx="2533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Integration-led expansion.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8E027B-22AB-493A-86B7-D881AACA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9975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196"/>
            </a:srgbClr>
          </a:solidFill>
          <a:ln xmlns:a="http://schemas.openxmlformats.org/drawingml/2006/main" w="7620">
            <a:solidFill>
              <a:srgbClr val="D8D3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1B9E27-C722-4632-A917-5F190A9B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Audit export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429AA5-2F53-4486-818A-EA2762477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733800"/>
            <a:ext cx="2628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Pull-mode evidence for SIEM/compliance.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1D02EA-BCEC-4431-ACF9-E03DC569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73380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JSONL/CSV export + SIEM webhook settings.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38A5E2-A3F0-45E8-A465-92A16DBD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33800"/>
            <a:ext cx="2533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Security and compliance SKU.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3FEE22-6698-437D-926A-561D8382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62425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3C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605D8C-D58C-4D15-9155-299ADC6D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Embed tokens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E85E0E-128E-42B0-8E47-B23D4C92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286250"/>
            <a:ext cx="2628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Short-lived, read-only iframing.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9192FE-B3CD-4054-8A47-567D3444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2862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5-minute origin-pinned JWTs.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545F2B-3AE4-4500-94A9-167FFB2A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86250"/>
            <a:ext cx="2533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Partner/customer portal embeds.</a:t>
            </a:r>
          </a:p>
        </p:txBody>
      </p:sp>
      <p:sp>
        <p:nvSpPr>
          <p:cNvPr id="35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E4A678DF-78E4-4581-A188-D6859DE8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BUSINESS / ENTERPRISE READINESS</a:t>
            </a:r>
          </a:p>
        </p:txBody>
      </p:sp>
      <p:sp>
        <p:nvSpPr>
          <p:cNvPr id="3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BB253D3-766B-4F3A-AD81-605A4FEC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2385607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B17531-EE17-429A-ADE4-F4078178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AC98953-161A-43AD-832D-D834311D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7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61610C2-5C5A-469D-97D0-4B8DD6577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44054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447D632D-0380-4267-B04D-8C01FCDB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A2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A2D"/>
                </a:solidFill>
                <a:latin typeface="Aptos Display"/>
                <a:ea typeface="Aptos Display"/>
                <a:cs typeface="Aptos Display"/>
              </a:rPr>
              <a:t>Developer platform foundations are credible, but OAuth-as-provider remains the main missing platform primitive.</a:t>
            </a:r>
          </a:p>
        </p:txBody>
      </p:sp>
      <p:sp>
        <p:nvSpPr>
          <p:cNvPr id="5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667A8D71-47F7-4487-A5A6-C4ABE310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810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This reflects the project state reviewed locally; it is implementation status, not production certification.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607880-3ACF-44E8-85D4-6EEA0DEA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90675"/>
            <a:ext cx="2047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Platform feature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A476D8-A0BA-46C3-A2C2-B9FA611D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159067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476C6F-A998-4BF0-A2A4-3D2CBA17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590675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574016-FB34-4E84-9EB4-B81DF8EC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1590675"/>
            <a:ext cx="3286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Next business decision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5472CD-24A0-49E1-90D0-EAE0D9E0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3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808834-4103-47F1-9C3A-E6857AC3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20097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Public OpenAPI + docs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CB404D-C421-4177-9622-DFFE13B1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076450"/>
            <a:ext cx="1009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Present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19475A-C16C-40A8-A1AB-9610B7EC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76450"/>
            <a:ext cx="3105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Lets customers discover APIs without reading Rust.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88502E-5B52-4DC6-AB10-46F7A368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076450"/>
            <a:ext cx="3248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Keep docs tied to supported endpoints.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5BF7F2-7B2A-4245-8140-D2315FEC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05075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196"/>
            </a:srgbClr>
          </a:solidFill>
          <a:ln xmlns:a="http://schemas.openxmlformats.org/drawingml/2006/main" w="7620">
            <a:solidFill>
              <a:srgbClr val="D8D3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9F5D38-A4A9-4C74-9963-C0AFC079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0097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Outbound webhooks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33A5FA-4BE0-4D06-B204-8FD21800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628900"/>
            <a:ext cx="1009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Present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89B600-E31F-4D1A-8004-56217457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628900"/>
            <a:ext cx="3105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Enables event-driven customer workflows.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8DEA0E-D0B9-4E19-A15A-7F8E2F37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628900"/>
            <a:ext cx="3248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Add retries SLA and delivery analytics.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1EE449-92C2-43CA-909C-0F466304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57525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3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7487BE-3B2F-47FC-A695-3477985F3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20097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SCIM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255C18-2864-424C-B9F8-C88D454B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181350"/>
            <a:ext cx="1009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Present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8D90DD-22BA-4CD9-8A99-DC9E4D8C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181350"/>
            <a:ext cx="3105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Unlocks Okta/Entra provisioning conversations.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29EE7D-ACA7-4368-B6DB-08F8D8E6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181350"/>
            <a:ext cx="3248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Harden with IdP test matrix.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B84600-1F88-4197-91E9-4524DF09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9975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196"/>
            </a:srgbClr>
          </a:solidFill>
          <a:ln xmlns:a="http://schemas.openxmlformats.org/drawingml/2006/main" w="7620">
            <a:solidFill>
              <a:srgbClr val="D8D3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B9B0F3-5B04-4AAF-AF97-4652845C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20097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Embed tokens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62944A-2E9D-4EB2-9809-243A4F8E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733800"/>
            <a:ext cx="1009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Present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92EA5B-6D2A-4A47-91A6-D2AEA766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733800"/>
            <a:ext cx="3105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Supports partner portal and iframe use cases.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8E334D-9348-4281-9CD3-0A47F93C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733800"/>
            <a:ext cx="3248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Define allowed widgets and scopes.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777AB3-F8D4-44D3-8EAC-EF402907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62425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3C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CDA200-93E0-48E5-9833-9B5ED4FD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20097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OAuth authorization server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B56DCC-F956-4507-B3C7-57BE93E3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286250"/>
            <a:ext cx="1009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Missing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398740-19B0-4DD3-817B-DB8F9E38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286250"/>
            <a:ext cx="3105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Needed for 'Sign in with Wayve' and delegated scoped tokens.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0B81D0-2DB8-4A16-AED1-C51AE402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286250"/>
            <a:ext cx="3248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Prioritize if third-party app ecosystem is strategic.</a:t>
            </a:r>
          </a:p>
        </p:txBody>
      </p:sp>
      <p:sp>
        <p:nvSpPr>
          <p:cNvPr id="35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A56C80F5-F6E0-4BC1-9EA5-7A757E04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BUSINESS / PLATFORM STATUS</a:t>
            </a:r>
          </a:p>
        </p:txBody>
      </p:sp>
      <p:sp>
        <p:nvSpPr>
          <p:cNvPr id="3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A21D981-B406-4294-83A2-56226AA8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5739590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F29567-53C2-4119-9A1F-9E857E70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A3CD661-7FA8-45D5-9423-784EA854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8780950-3203-4D50-AB87-9E0DF09FF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44054"/>
                </a:solidFill>
                <a:latin typeface="Aptos"/>
                <a:ea typeface="Aptos"/>
                <a:cs typeface="Aptos"/>
              </a:rPr>
              <a:t>GROWTH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46208C27-9A01-4F06-8A55-0A142724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A2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A2D"/>
                </a:solidFill>
                <a:latin typeface="Aptos Display"/>
                <a:ea typeface="Aptos Display"/>
                <a:cs typeface="Aptos Display"/>
              </a:rPr>
              <a:t>The most natural growth loop is developer integration pulling more teams into shared work.</a:t>
            </a:r>
          </a:p>
        </p:txBody>
      </p:sp>
      <p:sp>
        <p:nvSpPr>
          <p:cNvPr id="5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CC179598-CA41-49B8-82A6-FA843175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810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API keys include explicit scopes, expiry and per-key rate limits, which gives sales a clear integration-control story.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FAFE35-7F71-4D30-8CF9-30186D65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676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477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5F7352-B01D-40F4-BB0B-C6BB6535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77E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77E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84D20E-D397-4531-B68A-468B9FB8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Team adopts inbox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1E653C-F375-446A-8D47-BA388DB5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Starts with daily email and shared triage.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85EBF0-C72F-43A3-A71E-A809DF49A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0861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81145A-17BC-4BF1-AFBD-22F6D097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81250"/>
            <a:ext cx="1676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8F6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962A02-4841-4295-833E-7724736B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336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B8F6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B8F6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559CC0-069E-47C5-BBA1-B4A5AF01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3845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Admin adds controls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E596C1-A2CF-4E24-8A00-A552BA57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2575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Members, roles, SSO, SCIM and audit reduce IT objections.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26E1BD-5E37-4D3C-82C2-12F53115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861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2474F6-2882-4A75-8643-F1B23563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81250"/>
            <a:ext cx="1676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5"/>
          </a:solidFill>
          <a:ln xmlns:a="http://schemas.openxmlformats.org/drawingml/2006/main" w="9525">
            <a:solidFill>
              <a:srgbClr val="19A7A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A4F1A9-BA0B-4301-9B7C-04BAB41B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336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A7A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A7A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C61378-E7C6-4159-A23A-1FEC8584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3845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Developer connects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9454B7-7ACA-4A7F-A93E-5ACEB60C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2575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OpenAPI and API keys connect Wayve to customer tools.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80235A-8B29-4F66-8765-D0312197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861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2676FB-226A-4238-B150-F98C03C0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81250"/>
            <a:ext cx="1676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79F4B3-701D-4962-8F28-8309F7E6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336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2B84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CEF36B-1E8A-453A-B8B3-C8324D09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3845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Events expand usage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1EBFE8-C6C6-4FC1-8720-60545345C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575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Webhooks move Wayve events into downstream workflows.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7C7DC9-F184-4C11-AEEE-B2FF5300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861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B90776-DF67-4A35-BF9D-E342D62C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81250"/>
            <a:ext cx="1676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8"/>
          </a:solidFill>
          <a:ln xmlns:a="http://schemas.openxmlformats.org/drawingml/2006/main" w="9525">
            <a:solidFill>
              <a:srgbClr val="F26D5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18F306-CEAE-4A1A-BEC1-146DBA00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336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6D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26D5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982E67-0C59-4959-92A8-4B67DAF6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3845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More seats follow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BDB1EA-8612-47E2-8389-6F9247F2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575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Shared processes bring support, security, billing and operations users.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909210-4CAC-4E9B-BE24-5AEA10E4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0125"/>
            <a:ext cx="9525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Packaging implication: sell workspace value first, then monetize the integration surface.</a:t>
            </a:r>
          </a:p>
        </p:txBody>
      </p:sp>
      <p:sp>
        <p:nvSpPr>
          <p:cNvPr id="31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57DCC9E9-7017-43C2-AC2D-67EE636F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BUSINESS / GROWTH LOOP</a:t>
            </a:r>
          </a:p>
        </p:txBody>
      </p:sp>
      <p:sp>
        <p:nvSpPr>
          <p:cNvPr id="3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6438010-7562-4CBD-B538-8A779129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5195187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46BAAD-EF7A-4D4E-A3DA-F8BBD27C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F1577A2-A7CC-4761-9B54-A7624EA4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11B6E3B-9C0A-4998-AC28-592C99A4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44054"/>
                </a:solidFill>
                <a:latin typeface="Aptos"/>
                <a:ea typeface="Aptos"/>
                <a:cs typeface="Aptos"/>
              </a:rPr>
              <a:t>RISKS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212651DD-0E08-4840-92B4-BAD7B623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A2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A2D"/>
                </a:solidFill>
                <a:latin typeface="Aptos Display"/>
                <a:ea typeface="Aptos Display"/>
                <a:cs typeface="Aptos Display"/>
              </a:rPr>
              <a:t>The commercial story is strong, but production proof and packaging clarity are the next constraints.</a:t>
            </a:r>
          </a:p>
        </p:txBody>
      </p:sp>
      <p:sp>
        <p:nvSpPr>
          <p:cNvPr id="5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1E90AA6F-F41A-4CAB-82FD-EF656EC1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810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Use these as board/sales readiness gates before positioning Wayve as an enterprise platform.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D659B7-47BC-4BB9-914F-A6102424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62150"/>
            <a:ext cx="381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D5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26D5B"/>
                </a:solidFill>
                <a:latin typeface="Aptos"/>
                <a:ea typeface="Aptos"/>
                <a:cs typeface="Aptos"/>
              </a:rPr>
              <a:t>Business Risks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3BD634-0EF1-4202-8F70-12EE2F80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43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21618B-B7F1-43CD-982B-986D207C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Too many surfaces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43F4B4-7417-4369-9054-E772510A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4191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The product spans many modules; packaging must define the lead use case clearly.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7A2C3E-F7A9-42B9-81D8-1541A731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861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A9612F-D86F-467C-BF13-EE298DA6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945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Enterprise promises need proof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90C3E5-D78C-4224-9E5D-A00E1124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48050"/>
            <a:ext cx="4191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SSO/SCIM/webhooks exist, but buyers will expect test evidence and admin polish.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4EBB6C-19B1-4699-A397-93071F256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29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056EAE-EE9A-4828-A4B0-D838AED0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Developer platform positioning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A0C4C8-6C8F-41D2-93C1-32FF7656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4191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OAuth-as-provider is still missing if Wayve wants a third-party app ecosystem.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87E749-35AB-4FC6-934F-58DC1D85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962150"/>
            <a:ext cx="381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B8F6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B8F6A"/>
                </a:solidFill>
                <a:latin typeface="Aptos"/>
                <a:ea typeface="Aptos"/>
                <a:cs typeface="Aptos"/>
              </a:rPr>
              <a:t>Near-Term Mitigations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78D67E-90FD-41D8-B4A1-D1E283DC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543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F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FD27D3-C637-427F-9A59-64CB8673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7650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Anchor on shared inbox + workflow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9B2C61-B30C-4596-BFC1-F58B32D6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705100"/>
            <a:ext cx="4191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Lead with a concrete buyer pain instead of a generic productivity suite.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F98FF8-45E5-4934-8B89-310B291E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2861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F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59088C-3EAE-4E2D-8E17-17C7892A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21945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Ship readiness checklist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870560-7DD2-46DD-9FD6-3AB30F93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448050"/>
            <a:ext cx="4191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Publish endpoint docs, supported events, SCIM IdP guides and audit export samples.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FF7527-FDF9-4DE8-B1EE-D117D4B7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029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F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DE203A-58CB-4465-BD2E-E0EE5223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96240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Tier by control surface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EBE3C2-0BF2-48E8-A7BD-A72005E3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191000"/>
            <a:ext cx="4191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Bundle SSO, SCIM, audit and webhooks into enterprise packaging.</a:t>
            </a:r>
          </a:p>
        </p:txBody>
      </p:sp>
      <p:sp>
        <p:nvSpPr>
          <p:cNvPr id="26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CBE2D9B7-86DE-43F6-8ADF-0FDF7966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BUSINESS / RISKS</a:t>
            </a:r>
          </a:p>
        </p:txBody>
      </p:sp>
      <p:sp>
        <p:nvSpPr>
          <p:cNvPr id="2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C7FC5DA-F94E-42A6-9AE8-52538599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3518913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C4D2FB-7AFB-4D75-ADF1-7FDA7B79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68ED0F6-CFEF-4079-AF21-EE11CCE6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7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9EB1170-5237-4695-AB28-1F062CD0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44054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203DE115-D4B8-42FB-9BB3-D63BDF57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A2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A2D"/>
                </a:solidFill>
                <a:latin typeface="Aptos Display"/>
                <a:ea typeface="Aptos Display"/>
                <a:cs typeface="Aptos Display"/>
              </a:rPr>
              <a:t>The next four moves should turn a broad product into an enterprise platform package.</a:t>
            </a:r>
          </a:p>
        </p:txBody>
      </p:sp>
      <p:sp>
        <p:nvSpPr>
          <p:cNvPr id="5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FF4C8E5B-9AAC-440A-B885-714194C5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810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Roadmap is based on current code gaps and buyer-readiness requirements, not new market assumptions.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CFB648-0BC6-4302-A667-620B4ABB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933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570D30-19E5-42DF-8BCB-A3219517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718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E5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D2B400-F7C8-4607-B3A3-42210EE2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10668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77E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77E5"/>
                </a:solidFill>
                <a:latin typeface="Aptos"/>
                <a:ea typeface="Aptos"/>
                <a:cs typeface="Aptos"/>
              </a:rPr>
              <a:t>Now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CE75AA-B7DF-42AF-9D58-7AFAB1EC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62375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Polish admin surfaces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EA9E1E-6F93-43EC-8329-AB6C716C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0"/>
            <a:ext cx="1562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Make SSO, SCIM, webhooks, audit and billing visually consistent and demo-ready.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A3BC3B-702B-4FBB-8D47-FC452F83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1718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A7A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9B4E12-7846-4CE7-8056-9ABCD8F5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571750"/>
            <a:ext cx="10668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9A7A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A7A8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DBA3A9-6AE1-4F46-978F-62A7E1F1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762375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Harden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72BEDD-BB8F-4DEE-8932-DA6BC623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191000"/>
            <a:ext cx="1562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Add test coverage, delivery logs, IdP guides, API examples and operational dashboards.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5A42F5-1F3E-400A-9596-FC9D0F93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1718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93C7B2-E96A-4604-8062-6F20FBC4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571750"/>
            <a:ext cx="10668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2B84B"/>
                </a:solidFill>
                <a:latin typeface="Aptos"/>
                <a:ea typeface="Aptos"/>
                <a:cs typeface="Aptos"/>
              </a:rPr>
              <a:t>Then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8CC597-E035-4F9D-ACDB-C3A066D6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62375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Package enterprise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545C31-415E-44D5-A0A7-0500BBF2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191000"/>
            <a:ext cx="1562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Define tier gates for SSO, audit export, shared inboxes, webhooks and rate limits.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6AD307-3F2D-4275-B7D9-8BC58246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1718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D5B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2DFBD1-6A35-493F-9E60-9217DE06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571750"/>
            <a:ext cx="10668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26D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26D5B"/>
                </a:solidFill>
                <a:latin typeface="Aptos"/>
                <a:ea typeface="Aptos"/>
                <a:cs typeface="Aptos"/>
              </a:rPr>
              <a:t>Later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6CBE3C-2D99-4D98-8D9B-64F1EE48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762375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Issue OAuth tokens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0ACF77-6195-4489-A0F2-78667197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191000"/>
            <a:ext cx="1562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Build Wayve as an OAuth authorization server if partner apps become strategic.</a:t>
            </a:r>
          </a:p>
        </p:txBody>
      </p:sp>
      <p:sp>
        <p:nvSpPr>
          <p:cNvPr id="23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55E04B05-7124-4271-A1F1-7ABDE47D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BUSINESS / ROADMAP</a:t>
            </a:r>
          </a:p>
        </p:txBody>
      </p:sp>
      <p:sp>
        <p:nvSpPr>
          <p:cNvPr id="2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56B7383-BA6C-4B4E-AB08-64788C6F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1884721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ECBC80-9B2E-4444-84CA-0F52A84A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B979001-8C4A-414F-88C7-D32F4E94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7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EC6D15D-AA97-432E-BBEE-D87ED50B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44054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58DD883C-D59A-46D9-9292-74DD51B0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A2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A2D"/>
                </a:solidFill>
                <a:latin typeface="Aptos Display"/>
                <a:ea typeface="Aptos Display"/>
                <a:cs typeface="Aptos Display"/>
              </a:rPr>
              <a:t>Executive takeaway: sell Wayve as a secure communication workflow, then expand through platform controls.</a:t>
            </a:r>
          </a:p>
        </p:txBody>
      </p:sp>
      <p:sp>
        <p:nvSpPr>
          <p:cNvPr id="5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BC491849-A90E-4442-ADEF-E4AAC038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810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The project is advanced enough for a serious enterprise narrative, provided certification/test proof catches up.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93CD76-0D08-40EB-80B2-08EFB4A6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90675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9EDF5E-47CA-493C-A6D1-6024124C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590675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Answer from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B20801-21E9-4878-B2F9-EA8CDFE1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906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102FDB-E55B-4191-83C3-F301E948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3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9343F5-A32C-4F99-B900-37E5E2F2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What is the product?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AED292-F426-4078-B847-D4E90DC6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76450"/>
            <a:ext cx="472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A secure workspace that connects inbox, meetings, collaboration and customer automations.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C271BB-8E47-44F6-9D9D-0429A8AC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76450"/>
            <a:ext cx="2819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Lead the story with shared work, not isolated email.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51F3A4-B860-4DEE-8D53-B9BE5F90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05075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196"/>
            </a:srgbClr>
          </a:solidFill>
          <a:ln xmlns:a="http://schemas.openxmlformats.org/drawingml/2006/main" w="7620">
            <a:solidFill>
              <a:srgbClr val="D8D3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052D72-7863-4BC6-9FAE-50D78D23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Who buys?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2D5707-7037-4727-9465-830E3534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28900"/>
            <a:ext cx="472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Teams that need controlled communication workflows and IT-compatible administration.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6B9E62-FD15-4FAD-BEA3-2B50FBC7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28900"/>
            <a:ext cx="2819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Target org admins, support teams and security-conscious operators.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A2BA80-5922-4173-A3AA-7809784A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57525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3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85E415-181C-4439-AF0B-38BCDCE47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What differentiates?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252C12-E7FF-4720-8A41-322222E1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81350"/>
            <a:ext cx="472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E2EE-aware product surfaces plus SSO, SCIM, audit export, webhooks and API controls.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A950EE-953B-410B-BB05-2A8E6832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81350"/>
            <a:ext cx="2819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Turn enterprise controls into packaging and demos.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98ED50-B69F-4235-8ED4-510EFEA4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9975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196"/>
            </a:srgbClr>
          </a:solidFill>
          <a:ln xmlns:a="http://schemas.openxmlformats.org/drawingml/2006/main" w="7620">
            <a:solidFill>
              <a:srgbClr val="D8D3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4C0858-E763-4E63-833A-92C8B621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51A2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1A2D"/>
                </a:solidFill>
                <a:latin typeface="Aptos"/>
                <a:ea typeface="Aptos"/>
                <a:cs typeface="Aptos"/>
              </a:rPr>
              <a:t>What is missing?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10F397-E6D9-4493-923D-DFA57055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733800"/>
            <a:ext cx="472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OAuth authorization-server capabilities and production-grade proof around tests/SLAs.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6A0977-728D-4AC1-805D-9F54333E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33800"/>
            <a:ext cx="2819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Prioritize based on partner ecosystem need.</a:t>
            </a:r>
          </a:p>
        </p:txBody>
      </p:sp>
      <p:sp>
        <p:nvSpPr>
          <p:cNvPr id="25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72010286-B2DD-4B3C-A87E-B55D2AEB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BUSINESS / EXECUTIVE TAKEAWAY</a:t>
            </a:r>
          </a:p>
        </p:txBody>
      </p:sp>
      <p:sp>
        <p:nvSpPr>
          <p:cNvPr id="2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D489BF7-C108-40A7-8779-81CC32BA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412477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2026-05-24T15:53:50.1420000Z</dcterms:created>
  <dcterms:modified xsi:type="dcterms:W3CDTF">2026-05-24T15:53:50.1420000Z</dcterms:modified>
</coreProperties>
</file>